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Squada One" charset="1" panose="02000000000000000000"/>
      <p:regular r:id="rId18"/>
    </p:embeddedFont>
    <p:embeddedFont>
      <p:font typeface="Arial Nova Italics" charset="1" panose="020B0504020202090204"/>
      <p:regular r:id="rId19"/>
    </p:embeddedFont>
    <p:embeddedFont>
      <p:font typeface="Bobby Jones Condensed Soft" charset="1" panose="00000000000000000000"/>
      <p:regular r:id="rId20"/>
    </p:embeddedFont>
    <p:embeddedFont>
      <p:font typeface="Balsamiq Sans" charset="1" panose="02000603000000000000"/>
      <p:regular r:id="rId21"/>
    </p:embeddedFont>
    <p:embeddedFont>
      <p:font typeface="Arial Nova" charset="1" panose="020B0504020202020204"/>
      <p:regular r:id="rId22"/>
    </p:embeddedFont>
    <p:embeddedFont>
      <p:font typeface="Nunito" charset="1" panose="00000000000000000000"/>
      <p:regular r:id="rId23"/>
    </p:embeddedFont>
    <p:embeddedFont>
      <p:font typeface="Nunito Bold" charset="1" panose="00000000000000000000"/>
      <p:regular r:id="rId24"/>
    </p:embeddedFont>
    <p:embeddedFont>
      <p:font typeface="Red Hat Display" charset="1" panose="02010503040201060303"/>
      <p:regular r:id="rId25"/>
    </p:embeddedFont>
    <p:embeddedFont>
      <p:font typeface="Red Hat Display Bold" charset="1" panose="02010803040201060303"/>
      <p:regular r:id="rId26"/>
    </p:embeddedFont>
    <p:embeddedFont>
      <p:font typeface="DM Sans Bold" charset="1" panose="00000000000000000000"/>
      <p:regular r:id="rId27"/>
    </p:embeddedFont>
    <p:embeddedFont>
      <p:font typeface="DM Sans" charset="1" panose="00000000000000000000"/>
      <p:regular r:id="rId28"/>
    </p:embeddedFont>
    <p:embeddedFont>
      <p:font typeface="Bryndan Write" charset="1" panose="02000503000000000000"/>
      <p:regular r:id="rId29"/>
    </p:embeddedFont>
    <p:embeddedFont>
      <p:font typeface="Bosk" charset="1" panose="000000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png" Type="http://schemas.openxmlformats.org/officeDocument/2006/relationships/image"/><Relationship Id="rId12" Target="../media/image19.svg" Type="http://schemas.openxmlformats.org/officeDocument/2006/relationships/image"/><Relationship Id="rId13" Target="../media/image20.png" Type="http://schemas.openxmlformats.org/officeDocument/2006/relationships/image"/><Relationship Id="rId14" Target="../media/image21.svg" Type="http://schemas.openxmlformats.org/officeDocument/2006/relationships/image"/><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6.png" Type="http://schemas.openxmlformats.org/officeDocument/2006/relationships/image"/><Relationship Id="rId11" Target="../media/image47.svg" Type="http://schemas.openxmlformats.org/officeDocument/2006/relationships/image"/><Relationship Id="rId12" Target="../media/image48.png" Type="http://schemas.openxmlformats.org/officeDocument/2006/relationships/image"/><Relationship Id="rId13" Target="../media/image49.svg" Type="http://schemas.openxmlformats.org/officeDocument/2006/relationships/image"/><Relationship Id="rId2" Target="../media/image38.png" Type="http://schemas.openxmlformats.org/officeDocument/2006/relationships/image"/><Relationship Id="rId3" Target="../media/image39.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 Id="rId8" Target="../media/image44.png" Type="http://schemas.openxmlformats.org/officeDocument/2006/relationships/image"/><Relationship Id="rId9" Target="../media/image4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svg" Type="http://schemas.openxmlformats.org/officeDocument/2006/relationships/image"/><Relationship Id="rId4" Target="../media/image44.png" Type="http://schemas.openxmlformats.org/officeDocument/2006/relationships/image"/><Relationship Id="rId5" Target="../media/image45.svg" Type="http://schemas.openxmlformats.org/officeDocument/2006/relationships/image"/><Relationship Id="rId6" Target="../media/image46.png" Type="http://schemas.openxmlformats.org/officeDocument/2006/relationships/image"/><Relationship Id="rId7" Target="../media/image47.svg" Type="http://schemas.openxmlformats.org/officeDocument/2006/relationships/image"/><Relationship Id="rId8" Target="../media/image48.png" Type="http://schemas.openxmlformats.org/officeDocument/2006/relationships/image"/><Relationship Id="rId9" Target="../media/image4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54.png" Type="http://schemas.openxmlformats.org/officeDocument/2006/relationships/image"/><Relationship Id="rId7" Target="../media/image55.svg" Type="http://schemas.openxmlformats.org/officeDocument/2006/relationships/image"/><Relationship Id="rId8" Target="../media/image56.jpeg" Type="http://schemas.openxmlformats.org/officeDocument/2006/relationships/image"/><Relationship Id="rId9" Target="../media/image5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59.svg" Type="http://schemas.openxmlformats.org/officeDocument/2006/relationships/image"/><Relationship Id="rId4" Target="../media/image60.png" Type="http://schemas.openxmlformats.org/officeDocument/2006/relationships/image"/><Relationship Id="rId5" Target="../media/image6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59.svg" Type="http://schemas.openxmlformats.org/officeDocument/2006/relationships/image"/><Relationship Id="rId4" Target="../media/image62.png" Type="http://schemas.openxmlformats.org/officeDocument/2006/relationships/image"/><Relationship Id="rId5" Target="../media/image6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 Id="rId3" Target="../media/image65.svg" Type="http://schemas.openxmlformats.org/officeDocument/2006/relationships/image"/><Relationship Id="rId4" Target="../media/image66.png" Type="http://schemas.openxmlformats.org/officeDocument/2006/relationships/image"/><Relationship Id="rId5" Target="../media/image67.svg" Type="http://schemas.openxmlformats.org/officeDocument/2006/relationships/image"/><Relationship Id="rId6" Target="../media/image68.png" Type="http://schemas.openxmlformats.org/officeDocument/2006/relationships/image"/><Relationship Id="rId7" Target="../media/image69.svg" Type="http://schemas.openxmlformats.org/officeDocument/2006/relationships/image"/><Relationship Id="rId8" Target="../media/image70.png" Type="http://schemas.openxmlformats.org/officeDocument/2006/relationships/image"/><Relationship Id="rId9" Target="../media/image71.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0.png" Type="http://schemas.openxmlformats.org/officeDocument/2006/relationships/image"/><Relationship Id="rId11" Target="../media/image81.svg" Type="http://schemas.openxmlformats.org/officeDocument/2006/relationships/image"/><Relationship Id="rId12" Target="../media/image66.png" Type="http://schemas.openxmlformats.org/officeDocument/2006/relationships/image"/><Relationship Id="rId13" Target="../media/image67.svg" Type="http://schemas.openxmlformats.org/officeDocument/2006/relationships/image"/><Relationship Id="rId14" Target="../media/image82.png" Type="http://schemas.openxmlformats.org/officeDocument/2006/relationships/image"/><Relationship Id="rId15" Target="../media/image83.svg" Type="http://schemas.openxmlformats.org/officeDocument/2006/relationships/image"/><Relationship Id="rId2" Target="../media/image72.png" Type="http://schemas.openxmlformats.org/officeDocument/2006/relationships/image"/><Relationship Id="rId3" Target="../media/image73.svg" Type="http://schemas.openxmlformats.org/officeDocument/2006/relationships/image"/><Relationship Id="rId4" Target="../media/image74.png" Type="http://schemas.openxmlformats.org/officeDocument/2006/relationships/image"/><Relationship Id="rId5" Target="../media/image75.svg" Type="http://schemas.openxmlformats.org/officeDocument/2006/relationships/image"/><Relationship Id="rId6" Target="../media/image76.png" Type="http://schemas.openxmlformats.org/officeDocument/2006/relationships/image"/><Relationship Id="rId7" Target="../media/image77.svg" Type="http://schemas.openxmlformats.org/officeDocument/2006/relationships/image"/><Relationship Id="rId8" Target="../media/image78.png" Type="http://schemas.openxmlformats.org/officeDocument/2006/relationships/image"/><Relationship Id="rId9" Target="../media/image7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CF1F4"/>
        </a:solidFill>
      </p:bgPr>
    </p:bg>
    <p:spTree>
      <p:nvGrpSpPr>
        <p:cNvPr id="1" name=""/>
        <p:cNvGrpSpPr/>
        <p:nvPr/>
      </p:nvGrpSpPr>
      <p:grpSpPr>
        <a:xfrm>
          <a:off x="0" y="0"/>
          <a:ext cx="0" cy="0"/>
          <a:chOff x="0" y="0"/>
          <a:chExt cx="0" cy="0"/>
        </a:xfrm>
      </p:grpSpPr>
      <p:sp>
        <p:nvSpPr>
          <p:cNvPr name="TextBox 2" id="2"/>
          <p:cNvSpPr txBox="true"/>
          <p:nvPr/>
        </p:nvSpPr>
        <p:spPr>
          <a:xfrm rot="0">
            <a:off x="7417863" y="3247588"/>
            <a:ext cx="9841437" cy="3265807"/>
          </a:xfrm>
          <a:prstGeom prst="rect">
            <a:avLst/>
          </a:prstGeom>
        </p:spPr>
        <p:txBody>
          <a:bodyPr anchor="t" rtlCol="false" tIns="0" lIns="0" bIns="0" rIns="0">
            <a:spAutoFit/>
          </a:bodyPr>
          <a:lstStyle/>
          <a:p>
            <a:pPr algn="l" marL="0" indent="0" lvl="0">
              <a:lnSpc>
                <a:spcPts val="12760"/>
              </a:lnSpc>
            </a:pPr>
            <a:r>
              <a:rPr lang="en-US" sz="11000" spc="220">
                <a:solidFill>
                  <a:srgbClr val="06434B"/>
                </a:solidFill>
                <a:latin typeface="Squada One"/>
                <a:ea typeface="Squada One"/>
                <a:cs typeface="Squada One"/>
                <a:sym typeface="Squada One"/>
              </a:rPr>
              <a:t>ZOMBIE OUTBREAK SIMULATION</a:t>
            </a:r>
          </a:p>
        </p:txBody>
      </p:sp>
      <p:sp>
        <p:nvSpPr>
          <p:cNvPr name="AutoShape 3" id="3"/>
          <p:cNvSpPr/>
          <p:nvPr/>
        </p:nvSpPr>
        <p:spPr>
          <a:xfrm rot="0">
            <a:off x="7417863" y="3180913"/>
            <a:ext cx="9841437" cy="0"/>
          </a:xfrm>
          <a:prstGeom prst="line">
            <a:avLst/>
          </a:prstGeom>
          <a:ln cap="flat" w="38100">
            <a:solidFill>
              <a:srgbClr val="143C3C"/>
            </a:solidFill>
            <a:prstDash val="solid"/>
            <a:headEnd type="none" len="sm" w="sm"/>
            <a:tailEnd type="none" len="sm" w="sm"/>
          </a:ln>
        </p:spPr>
      </p:sp>
      <p:sp>
        <p:nvSpPr>
          <p:cNvPr name="AutoShape 4" id="4"/>
          <p:cNvSpPr/>
          <p:nvPr/>
        </p:nvSpPr>
        <p:spPr>
          <a:xfrm rot="0">
            <a:off x="7417863" y="7143313"/>
            <a:ext cx="9841437" cy="0"/>
          </a:xfrm>
          <a:prstGeom prst="line">
            <a:avLst/>
          </a:prstGeom>
          <a:ln cap="flat" w="38100">
            <a:solidFill>
              <a:srgbClr val="143C3C"/>
            </a:solidFill>
            <a:prstDash val="solid"/>
            <a:headEnd type="none" len="sm" w="sm"/>
            <a:tailEnd type="none" len="sm" w="sm"/>
          </a:ln>
        </p:spPr>
      </p:sp>
      <p:sp>
        <p:nvSpPr>
          <p:cNvPr name="Freeform 5" id="5"/>
          <p:cNvSpPr/>
          <p:nvPr/>
        </p:nvSpPr>
        <p:spPr>
          <a:xfrm flipH="false" flipV="false" rot="4028164">
            <a:off x="-1842413" y="2890847"/>
            <a:ext cx="7548057" cy="5283640"/>
          </a:xfrm>
          <a:custGeom>
            <a:avLst/>
            <a:gdLst/>
            <a:ahLst/>
            <a:cxnLst/>
            <a:rect r="r" b="b" t="t" l="l"/>
            <a:pathLst>
              <a:path h="5283640" w="7548057">
                <a:moveTo>
                  <a:pt x="0" y="0"/>
                </a:moveTo>
                <a:lnTo>
                  <a:pt x="7548056" y="0"/>
                </a:lnTo>
                <a:lnTo>
                  <a:pt x="7548056" y="5283639"/>
                </a:lnTo>
                <a:lnTo>
                  <a:pt x="0" y="5283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38428" y="-391103"/>
            <a:ext cx="5311405" cy="4365010"/>
          </a:xfrm>
          <a:custGeom>
            <a:avLst/>
            <a:gdLst/>
            <a:ahLst/>
            <a:cxnLst/>
            <a:rect r="r" b="b" t="t" l="l"/>
            <a:pathLst>
              <a:path h="4365010" w="5311405">
                <a:moveTo>
                  <a:pt x="0" y="0"/>
                </a:moveTo>
                <a:lnTo>
                  <a:pt x="5311406" y="0"/>
                </a:lnTo>
                <a:lnTo>
                  <a:pt x="5311406" y="4365009"/>
                </a:lnTo>
                <a:lnTo>
                  <a:pt x="0" y="43650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860286" y="6514675"/>
            <a:ext cx="6349205" cy="6222221"/>
          </a:xfrm>
          <a:custGeom>
            <a:avLst/>
            <a:gdLst/>
            <a:ahLst/>
            <a:cxnLst/>
            <a:rect r="r" b="b" t="t" l="l"/>
            <a:pathLst>
              <a:path h="6222221" w="6349205">
                <a:moveTo>
                  <a:pt x="0" y="0"/>
                </a:moveTo>
                <a:lnTo>
                  <a:pt x="6349205" y="0"/>
                </a:lnTo>
                <a:lnTo>
                  <a:pt x="6349205" y="6222221"/>
                </a:lnTo>
                <a:lnTo>
                  <a:pt x="0" y="62222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7155696">
            <a:off x="1627515" y="5564949"/>
            <a:ext cx="6251967" cy="4365010"/>
          </a:xfrm>
          <a:custGeom>
            <a:avLst/>
            <a:gdLst/>
            <a:ahLst/>
            <a:cxnLst/>
            <a:rect r="r" b="b" t="t" l="l"/>
            <a:pathLst>
              <a:path h="4365010" w="6251967">
                <a:moveTo>
                  <a:pt x="6251967" y="0"/>
                </a:moveTo>
                <a:lnTo>
                  <a:pt x="0" y="0"/>
                </a:lnTo>
                <a:lnTo>
                  <a:pt x="0" y="4365009"/>
                </a:lnTo>
                <a:lnTo>
                  <a:pt x="6251967" y="4365009"/>
                </a:lnTo>
                <a:lnTo>
                  <a:pt x="6251967"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7417863" y="2083853"/>
            <a:ext cx="9841437" cy="775305"/>
          </a:xfrm>
          <a:prstGeom prst="rect">
            <a:avLst/>
          </a:prstGeom>
        </p:spPr>
        <p:txBody>
          <a:bodyPr anchor="t" rtlCol="false" tIns="0" lIns="0" bIns="0" rIns="0">
            <a:spAutoFit/>
          </a:bodyPr>
          <a:lstStyle/>
          <a:p>
            <a:pPr algn="l" marL="0" indent="0" lvl="0">
              <a:lnSpc>
                <a:spcPts val="6599"/>
              </a:lnSpc>
              <a:spcBef>
                <a:spcPct val="0"/>
              </a:spcBef>
            </a:pPr>
            <a:r>
              <a:rPr lang="en-US" sz="4399" i="true" spc="65">
                <a:solidFill>
                  <a:srgbClr val="06434B"/>
                </a:solidFill>
                <a:latin typeface="Arial Nova Italics"/>
                <a:ea typeface="Arial Nova Italics"/>
                <a:cs typeface="Arial Nova Italics"/>
                <a:sym typeface="Arial Nova Italics"/>
              </a:rPr>
              <a:t>DATA Structure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10707040">
            <a:off x="3238689" y="4087896"/>
            <a:ext cx="3671748" cy="989917"/>
          </a:xfrm>
          <a:custGeom>
            <a:avLst/>
            <a:gdLst/>
            <a:ahLst/>
            <a:cxnLst/>
            <a:rect r="r" b="b" t="t" l="l"/>
            <a:pathLst>
              <a:path h="989917" w="3671748">
                <a:moveTo>
                  <a:pt x="0" y="0"/>
                </a:moveTo>
                <a:lnTo>
                  <a:pt x="3671748" y="0"/>
                </a:lnTo>
                <a:lnTo>
                  <a:pt x="3671748" y="989916"/>
                </a:lnTo>
                <a:lnTo>
                  <a:pt x="0" y="989916"/>
                </a:lnTo>
                <a:lnTo>
                  <a:pt x="0" y="0"/>
                </a:lnTo>
                <a:close/>
              </a:path>
            </a:pathLst>
          </a:custGeom>
          <a:blipFill>
            <a:blip r:embed="rId3"/>
            <a:stretch>
              <a:fillRect l="0" t="0" r="-8146" b="-40931"/>
            </a:stretch>
          </a:blipFill>
        </p:spPr>
      </p:sp>
      <p:sp>
        <p:nvSpPr>
          <p:cNvPr name="Freeform 4" id="4"/>
          <p:cNvSpPr/>
          <p:nvPr/>
        </p:nvSpPr>
        <p:spPr>
          <a:xfrm flipH="false" flipV="false" rot="0">
            <a:off x="2939616" y="4171334"/>
            <a:ext cx="572722" cy="831127"/>
          </a:xfrm>
          <a:custGeom>
            <a:avLst/>
            <a:gdLst/>
            <a:ahLst/>
            <a:cxnLst/>
            <a:rect r="r" b="b" t="t" l="l"/>
            <a:pathLst>
              <a:path h="831127" w="572722">
                <a:moveTo>
                  <a:pt x="0" y="0"/>
                </a:moveTo>
                <a:lnTo>
                  <a:pt x="572723" y="0"/>
                </a:lnTo>
                <a:lnTo>
                  <a:pt x="572723" y="831128"/>
                </a:lnTo>
                <a:lnTo>
                  <a:pt x="0" y="8311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192825" y="6442747"/>
            <a:ext cx="989614" cy="2777865"/>
          </a:xfrm>
          <a:custGeom>
            <a:avLst/>
            <a:gdLst/>
            <a:ahLst/>
            <a:cxnLst/>
            <a:rect r="r" b="b" t="t" l="l"/>
            <a:pathLst>
              <a:path h="2777865" w="989614">
                <a:moveTo>
                  <a:pt x="989614" y="0"/>
                </a:moveTo>
                <a:lnTo>
                  <a:pt x="0" y="0"/>
                </a:lnTo>
                <a:lnTo>
                  <a:pt x="0" y="2777865"/>
                </a:lnTo>
                <a:lnTo>
                  <a:pt x="989614" y="2777865"/>
                </a:lnTo>
                <a:lnTo>
                  <a:pt x="98961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2123749" y="96282"/>
            <a:ext cx="14040502" cy="2643054"/>
          </a:xfrm>
          <a:prstGeom prst="rect">
            <a:avLst/>
          </a:prstGeom>
        </p:spPr>
        <p:txBody>
          <a:bodyPr anchor="t" rtlCol="false" tIns="0" lIns="0" bIns="0" rIns="0">
            <a:spAutoFit/>
          </a:bodyPr>
          <a:lstStyle/>
          <a:p>
            <a:pPr algn="ctr">
              <a:lnSpc>
                <a:spcPts val="21241"/>
              </a:lnSpc>
            </a:pPr>
            <a:r>
              <a:rPr lang="en-US" sz="15172">
                <a:solidFill>
                  <a:srgbClr val="FFFFF4"/>
                </a:solidFill>
                <a:latin typeface="Bobby Jones Condensed Soft"/>
                <a:ea typeface="Bobby Jones Condensed Soft"/>
                <a:cs typeface="Bobby Jones Condensed Soft"/>
                <a:sym typeface="Bobby Jones Condensed Soft"/>
              </a:rPr>
              <a:t>SUBMITTED BY </a:t>
            </a:r>
          </a:p>
        </p:txBody>
      </p:sp>
      <p:sp>
        <p:nvSpPr>
          <p:cNvPr name="Freeform 7" id="7"/>
          <p:cNvSpPr/>
          <p:nvPr/>
        </p:nvSpPr>
        <p:spPr>
          <a:xfrm flipH="false" flipV="false" rot="-8276967">
            <a:off x="2404493" y="1077237"/>
            <a:ext cx="914310" cy="1014491"/>
          </a:xfrm>
          <a:custGeom>
            <a:avLst/>
            <a:gdLst/>
            <a:ahLst/>
            <a:cxnLst/>
            <a:rect r="r" b="b" t="t" l="l"/>
            <a:pathLst>
              <a:path h="1014491" w="914310">
                <a:moveTo>
                  <a:pt x="0" y="0"/>
                </a:moveTo>
                <a:lnTo>
                  <a:pt x="914310" y="0"/>
                </a:lnTo>
                <a:lnTo>
                  <a:pt x="914310" y="1014491"/>
                </a:lnTo>
                <a:lnTo>
                  <a:pt x="0" y="101449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86499">
            <a:off x="8746288" y="4006878"/>
            <a:ext cx="3857623" cy="1169095"/>
          </a:xfrm>
          <a:custGeom>
            <a:avLst/>
            <a:gdLst/>
            <a:ahLst/>
            <a:cxnLst/>
            <a:rect r="r" b="b" t="t" l="l"/>
            <a:pathLst>
              <a:path h="1169095" w="3857623">
                <a:moveTo>
                  <a:pt x="0" y="0"/>
                </a:moveTo>
                <a:lnTo>
                  <a:pt x="3857623" y="0"/>
                </a:lnTo>
                <a:lnTo>
                  <a:pt x="3857623" y="1169095"/>
                </a:lnTo>
                <a:lnTo>
                  <a:pt x="0" y="1169095"/>
                </a:lnTo>
                <a:lnTo>
                  <a:pt x="0" y="0"/>
                </a:lnTo>
                <a:close/>
              </a:path>
            </a:pathLst>
          </a:custGeom>
          <a:blipFill>
            <a:blip r:embed="rId10"/>
            <a:stretch>
              <a:fillRect l="-23070" t="0" r="0" b="0"/>
            </a:stretch>
          </a:blipFill>
        </p:spPr>
      </p:sp>
      <p:sp>
        <p:nvSpPr>
          <p:cNvPr name="TextBox 9" id="9"/>
          <p:cNvSpPr txBox="true"/>
          <p:nvPr/>
        </p:nvSpPr>
        <p:spPr>
          <a:xfrm rot="-116042">
            <a:off x="3782501" y="4247494"/>
            <a:ext cx="3079792" cy="547412"/>
          </a:xfrm>
          <a:prstGeom prst="rect">
            <a:avLst/>
          </a:prstGeom>
        </p:spPr>
        <p:txBody>
          <a:bodyPr anchor="t" rtlCol="false" tIns="0" lIns="0" bIns="0" rIns="0">
            <a:spAutoFit/>
          </a:bodyPr>
          <a:lstStyle/>
          <a:p>
            <a:pPr algn="just">
              <a:lnSpc>
                <a:spcPts val="4480"/>
              </a:lnSpc>
            </a:pPr>
            <a:r>
              <a:rPr lang="en-US" sz="3200">
                <a:solidFill>
                  <a:srgbClr val="FFFFFF"/>
                </a:solidFill>
                <a:latin typeface="Balsamiq Sans"/>
                <a:ea typeface="Balsamiq Sans"/>
                <a:cs typeface="Balsamiq Sans"/>
                <a:sym typeface="Balsamiq Sans"/>
              </a:rPr>
              <a:t>MD Sirajul Islam</a:t>
            </a:r>
          </a:p>
        </p:txBody>
      </p:sp>
      <p:sp>
        <p:nvSpPr>
          <p:cNvPr name="TextBox 10" id="10"/>
          <p:cNvSpPr txBox="true"/>
          <p:nvPr/>
        </p:nvSpPr>
        <p:spPr>
          <a:xfrm rot="-226624">
            <a:off x="9451715" y="4213723"/>
            <a:ext cx="3132471" cy="547412"/>
          </a:xfrm>
          <a:prstGeom prst="rect">
            <a:avLst/>
          </a:prstGeom>
        </p:spPr>
        <p:txBody>
          <a:bodyPr anchor="t" rtlCol="false" tIns="0" lIns="0" bIns="0" rIns="0">
            <a:spAutoFit/>
          </a:bodyPr>
          <a:lstStyle/>
          <a:p>
            <a:pPr algn="just">
              <a:lnSpc>
                <a:spcPts val="4480"/>
              </a:lnSpc>
            </a:pPr>
            <a:r>
              <a:rPr lang="en-US" sz="3200">
                <a:solidFill>
                  <a:srgbClr val="FFFFFF"/>
                </a:solidFill>
                <a:latin typeface="Balsamiq Sans"/>
                <a:ea typeface="Balsamiq Sans"/>
                <a:cs typeface="Balsamiq Sans"/>
                <a:sym typeface="Balsamiq Sans"/>
              </a:rPr>
              <a:t>2024-1-60-291</a:t>
            </a:r>
          </a:p>
        </p:txBody>
      </p:sp>
      <p:sp>
        <p:nvSpPr>
          <p:cNvPr name="Freeform 11" id="11"/>
          <p:cNvSpPr/>
          <p:nvPr/>
        </p:nvSpPr>
        <p:spPr>
          <a:xfrm flipH="false" flipV="false" rot="1277388">
            <a:off x="14793696" y="1131574"/>
            <a:ext cx="994212" cy="1103148"/>
          </a:xfrm>
          <a:custGeom>
            <a:avLst/>
            <a:gdLst/>
            <a:ahLst/>
            <a:cxnLst/>
            <a:rect r="r" b="b" t="t" l="l"/>
            <a:pathLst>
              <a:path h="1103148" w="994212">
                <a:moveTo>
                  <a:pt x="0" y="0"/>
                </a:moveTo>
                <a:lnTo>
                  <a:pt x="994212" y="0"/>
                </a:lnTo>
                <a:lnTo>
                  <a:pt x="994212" y="1103148"/>
                </a:lnTo>
                <a:lnTo>
                  <a:pt x="0" y="11031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765709">
            <a:off x="15092568" y="4845049"/>
            <a:ext cx="1268132" cy="1818110"/>
          </a:xfrm>
          <a:custGeom>
            <a:avLst/>
            <a:gdLst/>
            <a:ahLst/>
            <a:cxnLst/>
            <a:rect r="r" b="b" t="t" l="l"/>
            <a:pathLst>
              <a:path h="1818110" w="1268132">
                <a:moveTo>
                  <a:pt x="0" y="0"/>
                </a:moveTo>
                <a:lnTo>
                  <a:pt x="1268131" y="0"/>
                </a:lnTo>
                <a:lnTo>
                  <a:pt x="1268131" y="1818110"/>
                </a:lnTo>
                <a:lnTo>
                  <a:pt x="0" y="181811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transition spd="slow">
    <p:cover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CF1F4"/>
        </a:solidFill>
      </p:bgPr>
    </p:bg>
    <p:spTree>
      <p:nvGrpSpPr>
        <p:cNvPr id="1" name=""/>
        <p:cNvGrpSpPr/>
        <p:nvPr/>
      </p:nvGrpSpPr>
      <p:grpSpPr>
        <a:xfrm>
          <a:off x="0" y="0"/>
          <a:ext cx="0" cy="0"/>
          <a:chOff x="0" y="0"/>
          <a:chExt cx="0" cy="0"/>
        </a:xfrm>
      </p:grpSpPr>
      <p:sp>
        <p:nvSpPr>
          <p:cNvPr name="Freeform 2" id="2"/>
          <p:cNvSpPr/>
          <p:nvPr/>
        </p:nvSpPr>
        <p:spPr>
          <a:xfrm flipH="false" flipV="false" rot="6836886">
            <a:off x="-2564061" y="-2134017"/>
            <a:ext cx="9363657" cy="5618194"/>
          </a:xfrm>
          <a:custGeom>
            <a:avLst/>
            <a:gdLst/>
            <a:ahLst/>
            <a:cxnLst/>
            <a:rect r="r" b="b" t="t" l="l"/>
            <a:pathLst>
              <a:path h="5618194" w="9363657">
                <a:moveTo>
                  <a:pt x="0" y="0"/>
                </a:moveTo>
                <a:lnTo>
                  <a:pt x="9363657" y="0"/>
                </a:lnTo>
                <a:lnTo>
                  <a:pt x="9363657" y="5618195"/>
                </a:lnTo>
                <a:lnTo>
                  <a:pt x="0" y="56181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43640">
            <a:off x="4779509" y="-1115946"/>
            <a:ext cx="5130545" cy="3582053"/>
          </a:xfrm>
          <a:custGeom>
            <a:avLst/>
            <a:gdLst/>
            <a:ahLst/>
            <a:cxnLst/>
            <a:rect r="r" b="b" t="t" l="l"/>
            <a:pathLst>
              <a:path h="3582053" w="5130545">
                <a:moveTo>
                  <a:pt x="0" y="0"/>
                </a:moveTo>
                <a:lnTo>
                  <a:pt x="5130545" y="0"/>
                </a:lnTo>
                <a:lnTo>
                  <a:pt x="5130545" y="3582053"/>
                </a:lnTo>
                <a:lnTo>
                  <a:pt x="0" y="35820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2734797" y="5143500"/>
            <a:ext cx="12870673" cy="4423903"/>
            <a:chOff x="0" y="0"/>
            <a:chExt cx="8607804" cy="2958671"/>
          </a:xfrm>
        </p:grpSpPr>
        <p:sp>
          <p:nvSpPr>
            <p:cNvPr name="Freeform 5" id="5"/>
            <p:cNvSpPr/>
            <p:nvPr/>
          </p:nvSpPr>
          <p:spPr>
            <a:xfrm flipH="false" flipV="false" rot="0">
              <a:off x="0" y="0"/>
              <a:ext cx="8607804" cy="2958672"/>
            </a:xfrm>
            <a:custGeom>
              <a:avLst/>
              <a:gdLst/>
              <a:ahLst/>
              <a:cxnLst/>
              <a:rect r="r" b="b" t="t" l="l"/>
              <a:pathLst>
                <a:path h="2958672" w="8607804">
                  <a:moveTo>
                    <a:pt x="8483344" y="2958671"/>
                  </a:moveTo>
                  <a:lnTo>
                    <a:pt x="124460" y="2958671"/>
                  </a:lnTo>
                  <a:cubicBezTo>
                    <a:pt x="55880" y="2958671"/>
                    <a:pt x="0" y="2902791"/>
                    <a:pt x="0" y="2834211"/>
                  </a:cubicBezTo>
                  <a:lnTo>
                    <a:pt x="0" y="124460"/>
                  </a:lnTo>
                  <a:cubicBezTo>
                    <a:pt x="0" y="55880"/>
                    <a:pt x="55880" y="0"/>
                    <a:pt x="124460" y="0"/>
                  </a:cubicBezTo>
                  <a:lnTo>
                    <a:pt x="8483344" y="0"/>
                  </a:lnTo>
                  <a:cubicBezTo>
                    <a:pt x="8551924" y="0"/>
                    <a:pt x="8607804" y="55880"/>
                    <a:pt x="8607804" y="124460"/>
                  </a:cubicBezTo>
                  <a:lnTo>
                    <a:pt x="8607804" y="2834211"/>
                  </a:lnTo>
                  <a:cubicBezTo>
                    <a:pt x="8607804" y="2902791"/>
                    <a:pt x="8551924" y="2958672"/>
                    <a:pt x="8483344" y="2958672"/>
                  </a:cubicBezTo>
                  <a:close/>
                </a:path>
              </a:pathLst>
            </a:custGeom>
            <a:solidFill>
              <a:srgbClr val="EB991D"/>
            </a:solidFill>
          </p:spPr>
        </p:sp>
      </p:grpSp>
      <p:sp>
        <p:nvSpPr>
          <p:cNvPr name="AutoShape 6" id="6"/>
          <p:cNvSpPr/>
          <p:nvPr/>
        </p:nvSpPr>
        <p:spPr>
          <a:xfrm>
            <a:off x="2524314" y="4643734"/>
            <a:ext cx="13239372" cy="0"/>
          </a:xfrm>
          <a:prstGeom prst="line">
            <a:avLst/>
          </a:prstGeom>
          <a:ln cap="flat" w="38100">
            <a:solidFill>
              <a:srgbClr val="06434B"/>
            </a:solidFill>
            <a:prstDash val="solid"/>
            <a:headEnd type="none" len="sm" w="sm"/>
            <a:tailEnd type="none" len="sm" w="sm"/>
          </a:ln>
        </p:spPr>
      </p:sp>
      <p:sp>
        <p:nvSpPr>
          <p:cNvPr name="Freeform 7" id="7"/>
          <p:cNvSpPr/>
          <p:nvPr/>
        </p:nvSpPr>
        <p:spPr>
          <a:xfrm flipH="false" flipV="false" rot="6649250">
            <a:off x="9842271" y="-975004"/>
            <a:ext cx="2700138" cy="3300168"/>
          </a:xfrm>
          <a:custGeom>
            <a:avLst/>
            <a:gdLst/>
            <a:ahLst/>
            <a:cxnLst/>
            <a:rect r="r" b="b" t="t" l="l"/>
            <a:pathLst>
              <a:path h="3300168" w="2700138">
                <a:moveTo>
                  <a:pt x="0" y="0"/>
                </a:moveTo>
                <a:lnTo>
                  <a:pt x="2700137" y="0"/>
                </a:lnTo>
                <a:lnTo>
                  <a:pt x="2700137" y="3300169"/>
                </a:lnTo>
                <a:lnTo>
                  <a:pt x="0" y="33001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4609778">
            <a:off x="12018761" y="-1097234"/>
            <a:ext cx="6390055" cy="6262254"/>
          </a:xfrm>
          <a:custGeom>
            <a:avLst/>
            <a:gdLst/>
            <a:ahLst/>
            <a:cxnLst/>
            <a:rect r="r" b="b" t="t" l="l"/>
            <a:pathLst>
              <a:path h="6262254" w="6390055">
                <a:moveTo>
                  <a:pt x="0" y="0"/>
                </a:moveTo>
                <a:lnTo>
                  <a:pt x="6390054" y="0"/>
                </a:lnTo>
                <a:lnTo>
                  <a:pt x="6390054" y="6262253"/>
                </a:lnTo>
                <a:lnTo>
                  <a:pt x="0" y="626225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10083619">
            <a:off x="14473594" y="-1031862"/>
            <a:ext cx="4542322" cy="4121125"/>
          </a:xfrm>
          <a:custGeom>
            <a:avLst/>
            <a:gdLst/>
            <a:ahLst/>
            <a:cxnLst/>
            <a:rect r="r" b="b" t="t" l="l"/>
            <a:pathLst>
              <a:path h="4121125" w="4542322">
                <a:moveTo>
                  <a:pt x="0" y="0"/>
                </a:moveTo>
                <a:lnTo>
                  <a:pt x="4542322" y="0"/>
                </a:lnTo>
                <a:lnTo>
                  <a:pt x="4542322" y="4121124"/>
                </a:lnTo>
                <a:lnTo>
                  <a:pt x="0" y="412112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2524314" y="2768849"/>
            <a:ext cx="13239372" cy="1514517"/>
          </a:xfrm>
          <a:prstGeom prst="rect">
            <a:avLst/>
          </a:prstGeom>
        </p:spPr>
        <p:txBody>
          <a:bodyPr anchor="t" rtlCol="false" tIns="0" lIns="0" bIns="0" rIns="0">
            <a:spAutoFit/>
          </a:bodyPr>
          <a:lstStyle/>
          <a:p>
            <a:pPr algn="ctr" marL="0" indent="0" lvl="0">
              <a:lnSpc>
                <a:spcPts val="11999"/>
              </a:lnSpc>
              <a:spcBef>
                <a:spcPct val="0"/>
              </a:spcBef>
            </a:pPr>
            <a:r>
              <a:rPr lang="en-US" sz="9999">
                <a:solidFill>
                  <a:srgbClr val="06434B"/>
                </a:solidFill>
                <a:latin typeface="Squada One"/>
                <a:ea typeface="Squada One"/>
                <a:cs typeface="Squada One"/>
                <a:sym typeface="Squada One"/>
              </a:rPr>
              <a:t>INTRODUCTION </a:t>
            </a:r>
          </a:p>
        </p:txBody>
      </p:sp>
      <p:sp>
        <p:nvSpPr>
          <p:cNvPr name="TextBox 11" id="11"/>
          <p:cNvSpPr txBox="true"/>
          <p:nvPr/>
        </p:nvSpPr>
        <p:spPr>
          <a:xfrm rot="0">
            <a:off x="3163257" y="5538497"/>
            <a:ext cx="12013754" cy="3614859"/>
          </a:xfrm>
          <a:prstGeom prst="rect">
            <a:avLst/>
          </a:prstGeom>
        </p:spPr>
        <p:txBody>
          <a:bodyPr anchor="t" rtlCol="false" tIns="0" lIns="0" bIns="0" rIns="0">
            <a:spAutoFit/>
          </a:bodyPr>
          <a:lstStyle/>
          <a:p>
            <a:pPr algn="ctr" marL="0" indent="0" lvl="0">
              <a:lnSpc>
                <a:spcPts val="3578"/>
              </a:lnSpc>
              <a:spcBef>
                <a:spcPct val="0"/>
              </a:spcBef>
            </a:pPr>
            <a:r>
              <a:rPr lang="en-US" sz="2752">
                <a:solidFill>
                  <a:srgbClr val="06434B"/>
                </a:solidFill>
                <a:latin typeface="Arial Nova"/>
                <a:ea typeface="Arial Nova"/>
                <a:cs typeface="Arial Nova"/>
                <a:sym typeface="Arial Nova"/>
              </a:rPr>
              <a:t>In this project, we simulate a zombie outbreak using a C program and core data structures. The goal is to model how an infection spreads through a city represented as a 2D grid. Each infected cell (zombie) can spread the infection to its adjacent neighbors (up, down, left, right) over time. We calculate how many hours it takes for the infection to reach the entire city or determine if some areas remain uninfected. The simulation uses structs, arrays, and a custom queue to implement the logic, similar to the Breadth-First Search (BFS) algorithm.</a:t>
            </a:r>
          </a:p>
        </p:txBody>
      </p:sp>
    </p:spTree>
  </p:cSld>
  <p:clrMapOvr>
    <a:masterClrMapping/>
  </p:clrMapOvr>
  <p:transition spd="fast">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CF1F4"/>
        </a:solidFill>
      </p:bgPr>
    </p:bg>
    <p:spTree>
      <p:nvGrpSpPr>
        <p:cNvPr id="1" name=""/>
        <p:cNvGrpSpPr/>
        <p:nvPr/>
      </p:nvGrpSpPr>
      <p:grpSpPr>
        <a:xfrm>
          <a:off x="0" y="0"/>
          <a:ext cx="0" cy="0"/>
          <a:chOff x="0" y="0"/>
          <a:chExt cx="0" cy="0"/>
        </a:xfrm>
      </p:grpSpPr>
      <p:sp>
        <p:nvSpPr>
          <p:cNvPr name="AutoShape 2" id="2"/>
          <p:cNvSpPr/>
          <p:nvPr/>
        </p:nvSpPr>
        <p:spPr>
          <a:xfrm>
            <a:off x="1028635" y="2015078"/>
            <a:ext cx="8115300" cy="27819"/>
          </a:xfrm>
          <a:prstGeom prst="line">
            <a:avLst/>
          </a:prstGeom>
          <a:ln cap="flat" w="38100">
            <a:solidFill>
              <a:srgbClr val="06434B"/>
            </a:solidFill>
            <a:prstDash val="solid"/>
            <a:headEnd type="none" len="sm" w="sm"/>
            <a:tailEnd type="none" len="sm" w="sm"/>
          </a:ln>
        </p:spPr>
      </p:sp>
      <p:sp>
        <p:nvSpPr>
          <p:cNvPr name="TextBox 3" id="3"/>
          <p:cNvSpPr txBox="true"/>
          <p:nvPr/>
        </p:nvSpPr>
        <p:spPr>
          <a:xfrm rot="0">
            <a:off x="853002" y="2336606"/>
            <a:ext cx="10047265" cy="7701280"/>
          </a:xfrm>
          <a:prstGeom prst="rect">
            <a:avLst/>
          </a:prstGeom>
        </p:spPr>
        <p:txBody>
          <a:bodyPr anchor="t" rtlCol="false" tIns="0" lIns="0" bIns="0" rIns="0">
            <a:spAutoFit/>
          </a:bodyPr>
          <a:lstStyle/>
          <a:p>
            <a:pPr algn="l">
              <a:lnSpc>
                <a:spcPts val="3379"/>
              </a:lnSpc>
            </a:pPr>
            <a:r>
              <a:rPr lang="en-US" sz="2599">
                <a:solidFill>
                  <a:srgbClr val="06434B"/>
                </a:solidFill>
                <a:latin typeface="Nunito"/>
                <a:ea typeface="Nunito"/>
                <a:cs typeface="Nunito"/>
                <a:sym typeface="Nunito"/>
              </a:rPr>
              <a:t>Imagine a city where each house is part of a grid, like a big chessboard. Some houses are already infected (zombies = 1), while others are safe (humans = 0). Each zombie can infect the four neighboring houses — up, down, left, and right — in one hour.</a:t>
            </a:r>
          </a:p>
          <a:p>
            <a:pPr algn="l">
              <a:lnSpc>
                <a:spcPts val="3379"/>
              </a:lnSpc>
            </a:pPr>
            <a:r>
              <a:rPr lang="en-US" sz="2599">
                <a:solidFill>
                  <a:srgbClr val="06434B"/>
                </a:solidFill>
                <a:latin typeface="Nunito"/>
                <a:ea typeface="Nunito"/>
                <a:cs typeface="Nunito"/>
                <a:sym typeface="Nunito"/>
              </a:rPr>
              <a:t>If a zombie is at position (i, j), it tries to infect:</a:t>
            </a:r>
          </a:p>
          <a:p>
            <a:pPr algn="l" marL="561339" indent="-280669" lvl="1">
              <a:lnSpc>
                <a:spcPts val="3379"/>
              </a:lnSpc>
              <a:buFont typeface="Arial"/>
              <a:buChar char="•"/>
            </a:pPr>
            <a:r>
              <a:rPr lang="en-US" sz="2599">
                <a:solidFill>
                  <a:srgbClr val="06434B"/>
                </a:solidFill>
                <a:latin typeface="Nunito"/>
                <a:ea typeface="Nunito"/>
                <a:cs typeface="Nunito"/>
                <a:sym typeface="Nunito"/>
              </a:rPr>
              <a:t>(i-1, j) – above</a:t>
            </a:r>
          </a:p>
          <a:p>
            <a:pPr algn="l" marL="561339" indent="-280669" lvl="1">
              <a:lnSpc>
                <a:spcPts val="3379"/>
              </a:lnSpc>
              <a:buFont typeface="Arial"/>
              <a:buChar char="•"/>
            </a:pPr>
            <a:r>
              <a:rPr lang="en-US" sz="2599">
                <a:solidFill>
                  <a:srgbClr val="06434B"/>
                </a:solidFill>
                <a:latin typeface="Nunito"/>
                <a:ea typeface="Nunito"/>
                <a:cs typeface="Nunito"/>
                <a:sym typeface="Nunito"/>
              </a:rPr>
              <a:t>(i+1, j) – below</a:t>
            </a:r>
          </a:p>
          <a:p>
            <a:pPr algn="l" marL="561339" indent="-280669" lvl="1">
              <a:lnSpc>
                <a:spcPts val="3379"/>
              </a:lnSpc>
              <a:buFont typeface="Arial"/>
              <a:buChar char="•"/>
            </a:pPr>
            <a:r>
              <a:rPr lang="en-US" sz="2599">
                <a:solidFill>
                  <a:srgbClr val="06434B"/>
                </a:solidFill>
                <a:latin typeface="Nunito"/>
                <a:ea typeface="Nunito"/>
                <a:cs typeface="Nunito"/>
                <a:sym typeface="Nunito"/>
              </a:rPr>
              <a:t>(i, j-1) – left</a:t>
            </a:r>
          </a:p>
          <a:p>
            <a:pPr algn="l" marL="561339" indent="-280669" lvl="1">
              <a:lnSpc>
                <a:spcPts val="3379"/>
              </a:lnSpc>
              <a:buFont typeface="Arial"/>
              <a:buChar char="•"/>
            </a:pPr>
            <a:r>
              <a:rPr lang="en-US" sz="2599">
                <a:solidFill>
                  <a:srgbClr val="06434B"/>
                </a:solidFill>
                <a:latin typeface="Nunito"/>
                <a:ea typeface="Nunito"/>
                <a:cs typeface="Nunito"/>
                <a:sym typeface="Nunito"/>
              </a:rPr>
              <a:t>(i, j+1) – right</a:t>
            </a:r>
          </a:p>
          <a:p>
            <a:pPr algn="l">
              <a:lnSpc>
                <a:spcPts val="3379"/>
              </a:lnSpc>
            </a:pPr>
            <a:r>
              <a:rPr lang="en-US" sz="2599">
                <a:solidFill>
                  <a:srgbClr val="06434B"/>
                </a:solidFill>
                <a:latin typeface="Nunito"/>
                <a:ea typeface="Nunito"/>
                <a:cs typeface="Nunito"/>
                <a:sym typeface="Nunito"/>
              </a:rPr>
              <a:t>Just like in a real outbreak:</a:t>
            </a:r>
          </a:p>
          <a:p>
            <a:pPr algn="l" marL="561339" indent="-280669" lvl="1">
              <a:lnSpc>
                <a:spcPts val="3379"/>
              </a:lnSpc>
              <a:buFont typeface="Arial"/>
              <a:buChar char="•"/>
            </a:pPr>
            <a:r>
              <a:rPr lang="en-US" sz="2599">
                <a:solidFill>
                  <a:srgbClr val="06434B"/>
                </a:solidFill>
                <a:latin typeface="Nunito"/>
                <a:ea typeface="Nunito"/>
                <a:cs typeface="Nunito"/>
                <a:sym typeface="Nunito"/>
              </a:rPr>
              <a:t>The infection spreads gradually from one area to the next.</a:t>
            </a:r>
          </a:p>
          <a:p>
            <a:pPr algn="l" marL="561339" indent="-280669" lvl="1">
              <a:lnSpc>
                <a:spcPts val="3379"/>
              </a:lnSpc>
              <a:buFont typeface="Arial"/>
              <a:buChar char="•"/>
            </a:pPr>
            <a:r>
              <a:rPr lang="en-US" sz="2599">
                <a:solidFill>
                  <a:srgbClr val="06434B"/>
                </a:solidFill>
                <a:latin typeface="Nunito"/>
                <a:ea typeface="Nunito"/>
                <a:cs typeface="Nunito"/>
                <a:sym typeface="Nunito"/>
              </a:rPr>
              <a:t>Some parts of the city might get infected later than others.</a:t>
            </a:r>
          </a:p>
          <a:p>
            <a:pPr algn="l" marL="561339" indent="-280669" lvl="1">
              <a:lnSpc>
                <a:spcPts val="3379"/>
              </a:lnSpc>
              <a:buFont typeface="Arial"/>
              <a:buChar char="•"/>
            </a:pPr>
            <a:r>
              <a:rPr lang="en-US" sz="2599">
                <a:solidFill>
                  <a:srgbClr val="06434B"/>
                </a:solidFill>
                <a:latin typeface="Nunito"/>
                <a:ea typeface="Nunito"/>
                <a:cs typeface="Nunito"/>
                <a:sym typeface="Nunito"/>
              </a:rPr>
              <a:t>Our goal is to track this spread over time, and calculate how many hours it takes to infect everyone, or determine if any safe zones survive.</a:t>
            </a:r>
          </a:p>
          <a:p>
            <a:pPr algn="l">
              <a:lnSpc>
                <a:spcPts val="3379"/>
              </a:lnSpc>
              <a:spcBef>
                <a:spcPct val="0"/>
              </a:spcBef>
            </a:pPr>
            <a:r>
              <a:rPr lang="en-US" sz="2599">
                <a:solidFill>
                  <a:srgbClr val="06434B"/>
                </a:solidFill>
                <a:latin typeface="Nunito"/>
                <a:ea typeface="Nunito"/>
                <a:cs typeface="Nunito"/>
                <a:sym typeface="Nunito"/>
              </a:rPr>
              <a:t>This analogy helps us understand how graph traversal (like BFS) is used to model real-life problems using data structures.</a:t>
            </a:r>
          </a:p>
          <a:p>
            <a:pPr algn="l">
              <a:lnSpc>
                <a:spcPts val="3379"/>
              </a:lnSpc>
              <a:spcBef>
                <a:spcPct val="0"/>
              </a:spcBef>
            </a:pPr>
          </a:p>
        </p:txBody>
      </p:sp>
      <p:sp>
        <p:nvSpPr>
          <p:cNvPr name="Freeform 4" id="4"/>
          <p:cNvSpPr/>
          <p:nvPr/>
        </p:nvSpPr>
        <p:spPr>
          <a:xfrm flipH="false" flipV="false" rot="0">
            <a:off x="11244753" y="1424547"/>
            <a:ext cx="5567059" cy="7833753"/>
          </a:xfrm>
          <a:custGeom>
            <a:avLst/>
            <a:gdLst/>
            <a:ahLst/>
            <a:cxnLst/>
            <a:rect r="r" b="b" t="t" l="l"/>
            <a:pathLst>
              <a:path h="7833753" w="5567059">
                <a:moveTo>
                  <a:pt x="0" y="0"/>
                </a:moveTo>
                <a:lnTo>
                  <a:pt x="5567059" y="0"/>
                </a:lnTo>
                <a:lnTo>
                  <a:pt x="5567059" y="7833753"/>
                </a:lnTo>
                <a:lnTo>
                  <a:pt x="0" y="7833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028700" y="862592"/>
            <a:ext cx="8115300" cy="1133436"/>
          </a:xfrm>
          <a:prstGeom prst="rect">
            <a:avLst/>
          </a:prstGeom>
        </p:spPr>
        <p:txBody>
          <a:bodyPr anchor="t" rtlCol="false" tIns="0" lIns="0" bIns="0" rIns="0">
            <a:spAutoFit/>
          </a:bodyPr>
          <a:lstStyle/>
          <a:p>
            <a:pPr algn="l" marL="0" indent="0" lvl="0">
              <a:lnSpc>
                <a:spcPts val="8700"/>
              </a:lnSpc>
            </a:pPr>
            <a:r>
              <a:rPr lang="en-US" sz="7500" spc="150">
                <a:solidFill>
                  <a:srgbClr val="06434B"/>
                </a:solidFill>
                <a:latin typeface="Squada One"/>
                <a:ea typeface="Squada One"/>
                <a:cs typeface="Squada One"/>
                <a:sym typeface="Squada One"/>
              </a:rPr>
              <a:t>REAL-WORLD ANALOGY</a:t>
            </a:r>
          </a:p>
        </p:txBody>
      </p:sp>
      <p:sp>
        <p:nvSpPr>
          <p:cNvPr name="Freeform 6" id="6"/>
          <p:cNvSpPr/>
          <p:nvPr/>
        </p:nvSpPr>
        <p:spPr>
          <a:xfrm flipH="false" flipV="false" rot="-7938715">
            <a:off x="15034653" y="-849472"/>
            <a:ext cx="5466522" cy="4114800"/>
          </a:xfrm>
          <a:custGeom>
            <a:avLst/>
            <a:gdLst/>
            <a:ahLst/>
            <a:cxnLst/>
            <a:rect r="r" b="b" t="t" l="l"/>
            <a:pathLst>
              <a:path h="4114800" w="5466522">
                <a:moveTo>
                  <a:pt x="0" y="0"/>
                </a:moveTo>
                <a:lnTo>
                  <a:pt x="5466522" y="0"/>
                </a:lnTo>
                <a:lnTo>
                  <a:pt x="546652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fast">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CF1F4"/>
        </a:solidFill>
      </p:bgPr>
    </p:bg>
    <p:spTree>
      <p:nvGrpSpPr>
        <p:cNvPr id="1" name=""/>
        <p:cNvGrpSpPr/>
        <p:nvPr/>
      </p:nvGrpSpPr>
      <p:grpSpPr>
        <a:xfrm>
          <a:off x="0" y="0"/>
          <a:ext cx="0" cy="0"/>
          <a:chOff x="0" y="0"/>
          <a:chExt cx="0" cy="0"/>
        </a:xfrm>
      </p:grpSpPr>
      <p:sp>
        <p:nvSpPr>
          <p:cNvPr name="TextBox 2" id="2"/>
          <p:cNvSpPr txBox="true"/>
          <p:nvPr/>
        </p:nvSpPr>
        <p:spPr>
          <a:xfrm rot="0">
            <a:off x="1028700" y="838200"/>
            <a:ext cx="16230600" cy="1708108"/>
          </a:xfrm>
          <a:prstGeom prst="rect">
            <a:avLst/>
          </a:prstGeom>
        </p:spPr>
        <p:txBody>
          <a:bodyPr anchor="t" rtlCol="false" tIns="0" lIns="0" bIns="0" rIns="0">
            <a:spAutoFit/>
          </a:bodyPr>
          <a:lstStyle/>
          <a:p>
            <a:pPr algn="ctr">
              <a:lnSpc>
                <a:spcPts val="13999"/>
              </a:lnSpc>
            </a:pPr>
            <a:r>
              <a:rPr lang="en-US" sz="9999">
                <a:solidFill>
                  <a:srgbClr val="06434B"/>
                </a:solidFill>
                <a:latin typeface="Squada One"/>
                <a:ea typeface="Squada One"/>
                <a:cs typeface="Squada One"/>
                <a:sym typeface="Squada One"/>
              </a:rPr>
              <a:t>KEY CONCEPTS USED</a:t>
            </a:r>
          </a:p>
        </p:txBody>
      </p:sp>
      <p:grpSp>
        <p:nvGrpSpPr>
          <p:cNvPr name="Group 3" id="3"/>
          <p:cNvGrpSpPr/>
          <p:nvPr/>
        </p:nvGrpSpPr>
        <p:grpSpPr>
          <a:xfrm rot="0">
            <a:off x="1028612" y="3827457"/>
            <a:ext cx="3638424" cy="5430843"/>
            <a:chOff x="0" y="0"/>
            <a:chExt cx="3133810" cy="4677638"/>
          </a:xfrm>
        </p:grpSpPr>
        <p:sp>
          <p:nvSpPr>
            <p:cNvPr name="Freeform 4" id="4"/>
            <p:cNvSpPr/>
            <p:nvPr/>
          </p:nvSpPr>
          <p:spPr>
            <a:xfrm flipH="false" flipV="false" rot="0">
              <a:off x="0" y="0"/>
              <a:ext cx="3133810" cy="4677639"/>
            </a:xfrm>
            <a:custGeom>
              <a:avLst/>
              <a:gdLst/>
              <a:ahLst/>
              <a:cxnLst/>
              <a:rect r="r" b="b" t="t" l="l"/>
              <a:pathLst>
                <a:path h="4677639" w="3133810">
                  <a:moveTo>
                    <a:pt x="3009350" y="4677638"/>
                  </a:moveTo>
                  <a:lnTo>
                    <a:pt x="124460" y="4677638"/>
                  </a:lnTo>
                  <a:cubicBezTo>
                    <a:pt x="55880" y="4677638"/>
                    <a:pt x="0" y="4621758"/>
                    <a:pt x="0" y="4553178"/>
                  </a:cubicBezTo>
                  <a:lnTo>
                    <a:pt x="0" y="124460"/>
                  </a:lnTo>
                  <a:cubicBezTo>
                    <a:pt x="0" y="55880"/>
                    <a:pt x="55880" y="0"/>
                    <a:pt x="124460" y="0"/>
                  </a:cubicBezTo>
                  <a:lnTo>
                    <a:pt x="3009350" y="0"/>
                  </a:lnTo>
                  <a:cubicBezTo>
                    <a:pt x="3077930" y="0"/>
                    <a:pt x="3133810" y="55880"/>
                    <a:pt x="3133810" y="124460"/>
                  </a:cubicBezTo>
                  <a:lnTo>
                    <a:pt x="3133810" y="4553178"/>
                  </a:lnTo>
                  <a:cubicBezTo>
                    <a:pt x="3133810" y="4621758"/>
                    <a:pt x="3077930" y="4677639"/>
                    <a:pt x="3009350" y="4677639"/>
                  </a:cubicBezTo>
                  <a:close/>
                </a:path>
              </a:pathLst>
            </a:custGeom>
            <a:solidFill>
              <a:srgbClr val="EB991D"/>
            </a:solidFill>
          </p:spPr>
        </p:sp>
      </p:grpSp>
      <p:grpSp>
        <p:nvGrpSpPr>
          <p:cNvPr name="Group 5" id="5"/>
          <p:cNvGrpSpPr/>
          <p:nvPr/>
        </p:nvGrpSpPr>
        <p:grpSpPr>
          <a:xfrm rot="0">
            <a:off x="5226041" y="3827457"/>
            <a:ext cx="3638424" cy="5430843"/>
            <a:chOff x="0" y="0"/>
            <a:chExt cx="3133810" cy="4677638"/>
          </a:xfrm>
        </p:grpSpPr>
        <p:sp>
          <p:nvSpPr>
            <p:cNvPr name="Freeform 6" id="6"/>
            <p:cNvSpPr/>
            <p:nvPr/>
          </p:nvSpPr>
          <p:spPr>
            <a:xfrm flipH="false" flipV="false" rot="0">
              <a:off x="0" y="0"/>
              <a:ext cx="3133810" cy="4677639"/>
            </a:xfrm>
            <a:custGeom>
              <a:avLst/>
              <a:gdLst/>
              <a:ahLst/>
              <a:cxnLst/>
              <a:rect r="r" b="b" t="t" l="l"/>
              <a:pathLst>
                <a:path h="4677639" w="3133810">
                  <a:moveTo>
                    <a:pt x="3009350" y="4677638"/>
                  </a:moveTo>
                  <a:lnTo>
                    <a:pt x="124460" y="4677638"/>
                  </a:lnTo>
                  <a:cubicBezTo>
                    <a:pt x="55880" y="4677638"/>
                    <a:pt x="0" y="4621758"/>
                    <a:pt x="0" y="4553178"/>
                  </a:cubicBezTo>
                  <a:lnTo>
                    <a:pt x="0" y="124460"/>
                  </a:lnTo>
                  <a:cubicBezTo>
                    <a:pt x="0" y="55880"/>
                    <a:pt x="55880" y="0"/>
                    <a:pt x="124460" y="0"/>
                  </a:cubicBezTo>
                  <a:lnTo>
                    <a:pt x="3009350" y="0"/>
                  </a:lnTo>
                  <a:cubicBezTo>
                    <a:pt x="3077930" y="0"/>
                    <a:pt x="3133810" y="55880"/>
                    <a:pt x="3133810" y="124460"/>
                  </a:cubicBezTo>
                  <a:lnTo>
                    <a:pt x="3133810" y="4553178"/>
                  </a:lnTo>
                  <a:cubicBezTo>
                    <a:pt x="3133810" y="4621758"/>
                    <a:pt x="3077930" y="4677639"/>
                    <a:pt x="3009350" y="4677639"/>
                  </a:cubicBezTo>
                  <a:close/>
                </a:path>
              </a:pathLst>
            </a:custGeom>
            <a:solidFill>
              <a:srgbClr val="EB991D"/>
            </a:solidFill>
          </p:spPr>
        </p:sp>
      </p:grpSp>
      <p:sp>
        <p:nvSpPr>
          <p:cNvPr name="Freeform 7" id="7"/>
          <p:cNvSpPr/>
          <p:nvPr/>
        </p:nvSpPr>
        <p:spPr>
          <a:xfrm flipH="false" flipV="false" rot="9896539">
            <a:off x="9716531" y="6070103"/>
            <a:ext cx="9363657" cy="5618194"/>
          </a:xfrm>
          <a:custGeom>
            <a:avLst/>
            <a:gdLst/>
            <a:ahLst/>
            <a:cxnLst/>
            <a:rect r="r" b="b" t="t" l="l"/>
            <a:pathLst>
              <a:path h="5618194" w="9363657">
                <a:moveTo>
                  <a:pt x="0" y="0"/>
                </a:moveTo>
                <a:lnTo>
                  <a:pt x="9363657" y="0"/>
                </a:lnTo>
                <a:lnTo>
                  <a:pt x="9363657" y="5618194"/>
                </a:lnTo>
                <a:lnTo>
                  <a:pt x="0" y="56181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998835">
            <a:off x="16298286" y="112285"/>
            <a:ext cx="5374794" cy="5267299"/>
          </a:xfrm>
          <a:custGeom>
            <a:avLst/>
            <a:gdLst/>
            <a:ahLst/>
            <a:cxnLst/>
            <a:rect r="r" b="b" t="t" l="l"/>
            <a:pathLst>
              <a:path h="5267299" w="5374794">
                <a:moveTo>
                  <a:pt x="0" y="0"/>
                </a:moveTo>
                <a:lnTo>
                  <a:pt x="5374794" y="0"/>
                </a:lnTo>
                <a:lnTo>
                  <a:pt x="5374794" y="5267298"/>
                </a:lnTo>
                <a:lnTo>
                  <a:pt x="0" y="52672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9423470" y="3827457"/>
            <a:ext cx="3638424" cy="5430843"/>
            <a:chOff x="0" y="0"/>
            <a:chExt cx="3133810" cy="4677638"/>
          </a:xfrm>
        </p:grpSpPr>
        <p:sp>
          <p:nvSpPr>
            <p:cNvPr name="Freeform 10" id="10"/>
            <p:cNvSpPr/>
            <p:nvPr/>
          </p:nvSpPr>
          <p:spPr>
            <a:xfrm flipH="false" flipV="false" rot="0">
              <a:off x="0" y="0"/>
              <a:ext cx="3133810" cy="4677639"/>
            </a:xfrm>
            <a:custGeom>
              <a:avLst/>
              <a:gdLst/>
              <a:ahLst/>
              <a:cxnLst/>
              <a:rect r="r" b="b" t="t" l="l"/>
              <a:pathLst>
                <a:path h="4677639" w="3133810">
                  <a:moveTo>
                    <a:pt x="3009350" y="4677638"/>
                  </a:moveTo>
                  <a:lnTo>
                    <a:pt x="124460" y="4677638"/>
                  </a:lnTo>
                  <a:cubicBezTo>
                    <a:pt x="55880" y="4677638"/>
                    <a:pt x="0" y="4621758"/>
                    <a:pt x="0" y="4553178"/>
                  </a:cubicBezTo>
                  <a:lnTo>
                    <a:pt x="0" y="124460"/>
                  </a:lnTo>
                  <a:cubicBezTo>
                    <a:pt x="0" y="55880"/>
                    <a:pt x="55880" y="0"/>
                    <a:pt x="124460" y="0"/>
                  </a:cubicBezTo>
                  <a:lnTo>
                    <a:pt x="3009350" y="0"/>
                  </a:lnTo>
                  <a:cubicBezTo>
                    <a:pt x="3077930" y="0"/>
                    <a:pt x="3133810" y="55880"/>
                    <a:pt x="3133810" y="124460"/>
                  </a:cubicBezTo>
                  <a:lnTo>
                    <a:pt x="3133810" y="4553178"/>
                  </a:lnTo>
                  <a:cubicBezTo>
                    <a:pt x="3133810" y="4621758"/>
                    <a:pt x="3077930" y="4677639"/>
                    <a:pt x="3009350" y="4677639"/>
                  </a:cubicBezTo>
                  <a:close/>
                </a:path>
              </a:pathLst>
            </a:custGeom>
            <a:solidFill>
              <a:srgbClr val="EB991D"/>
            </a:solidFill>
          </p:spPr>
        </p:sp>
      </p:grpSp>
      <p:grpSp>
        <p:nvGrpSpPr>
          <p:cNvPr name="Group 11" id="11"/>
          <p:cNvGrpSpPr/>
          <p:nvPr/>
        </p:nvGrpSpPr>
        <p:grpSpPr>
          <a:xfrm rot="0">
            <a:off x="13620898" y="3827457"/>
            <a:ext cx="3638424" cy="5430843"/>
            <a:chOff x="0" y="0"/>
            <a:chExt cx="3133810" cy="4677638"/>
          </a:xfrm>
        </p:grpSpPr>
        <p:sp>
          <p:nvSpPr>
            <p:cNvPr name="Freeform 12" id="12"/>
            <p:cNvSpPr/>
            <p:nvPr/>
          </p:nvSpPr>
          <p:spPr>
            <a:xfrm flipH="false" flipV="false" rot="0">
              <a:off x="0" y="0"/>
              <a:ext cx="3133810" cy="4677639"/>
            </a:xfrm>
            <a:custGeom>
              <a:avLst/>
              <a:gdLst/>
              <a:ahLst/>
              <a:cxnLst/>
              <a:rect r="r" b="b" t="t" l="l"/>
              <a:pathLst>
                <a:path h="4677639" w="3133810">
                  <a:moveTo>
                    <a:pt x="3009350" y="4677638"/>
                  </a:moveTo>
                  <a:lnTo>
                    <a:pt x="124460" y="4677638"/>
                  </a:lnTo>
                  <a:cubicBezTo>
                    <a:pt x="55880" y="4677638"/>
                    <a:pt x="0" y="4621758"/>
                    <a:pt x="0" y="4553178"/>
                  </a:cubicBezTo>
                  <a:lnTo>
                    <a:pt x="0" y="124460"/>
                  </a:lnTo>
                  <a:cubicBezTo>
                    <a:pt x="0" y="55880"/>
                    <a:pt x="55880" y="0"/>
                    <a:pt x="124460" y="0"/>
                  </a:cubicBezTo>
                  <a:lnTo>
                    <a:pt x="3009350" y="0"/>
                  </a:lnTo>
                  <a:cubicBezTo>
                    <a:pt x="3077930" y="0"/>
                    <a:pt x="3133810" y="55880"/>
                    <a:pt x="3133810" y="124460"/>
                  </a:cubicBezTo>
                  <a:lnTo>
                    <a:pt x="3133810" y="4553178"/>
                  </a:lnTo>
                  <a:cubicBezTo>
                    <a:pt x="3133810" y="4621758"/>
                    <a:pt x="3077930" y="4677639"/>
                    <a:pt x="3009350" y="4677639"/>
                  </a:cubicBezTo>
                  <a:close/>
                </a:path>
              </a:pathLst>
            </a:custGeom>
            <a:solidFill>
              <a:srgbClr val="EB991D"/>
            </a:solidFill>
          </p:spPr>
        </p:sp>
      </p:grpSp>
      <p:sp>
        <p:nvSpPr>
          <p:cNvPr name="Freeform 13" id="13"/>
          <p:cNvSpPr/>
          <p:nvPr/>
        </p:nvSpPr>
        <p:spPr>
          <a:xfrm flipH="false" flipV="false" rot="2121550">
            <a:off x="-1074728" y="-951602"/>
            <a:ext cx="3427259" cy="4188872"/>
          </a:xfrm>
          <a:custGeom>
            <a:avLst/>
            <a:gdLst/>
            <a:ahLst/>
            <a:cxnLst/>
            <a:rect r="r" b="b" t="t" l="l"/>
            <a:pathLst>
              <a:path h="4188872" w="3427259">
                <a:moveTo>
                  <a:pt x="0" y="0"/>
                </a:moveTo>
                <a:lnTo>
                  <a:pt x="3427259" y="0"/>
                </a:lnTo>
                <a:lnTo>
                  <a:pt x="3427259" y="4188872"/>
                </a:lnTo>
                <a:lnTo>
                  <a:pt x="0" y="41888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1274736" y="5263834"/>
            <a:ext cx="3113105" cy="3106082"/>
          </a:xfrm>
          <a:prstGeom prst="rect">
            <a:avLst/>
          </a:prstGeom>
        </p:spPr>
        <p:txBody>
          <a:bodyPr anchor="t" rtlCol="false" tIns="0" lIns="0" bIns="0" rIns="0">
            <a:spAutoFit/>
          </a:bodyPr>
          <a:lstStyle/>
          <a:p>
            <a:pPr algn="ctr" marL="474983" indent="-237491" lvl="1">
              <a:lnSpc>
                <a:spcPts val="3080"/>
              </a:lnSpc>
              <a:buFont typeface="Arial"/>
              <a:buChar char="•"/>
            </a:pPr>
            <a:r>
              <a:rPr lang="en-US" sz="2200">
                <a:solidFill>
                  <a:srgbClr val="06434B"/>
                </a:solidFill>
                <a:latin typeface="Nunito"/>
                <a:ea typeface="Nunito"/>
                <a:cs typeface="Nunito"/>
                <a:sym typeface="Nunito"/>
              </a:rPr>
              <a:t>Used to represent the city layout.</a:t>
            </a:r>
          </a:p>
          <a:p>
            <a:pPr algn="ctr" marL="474983" indent="-237491" lvl="1">
              <a:lnSpc>
                <a:spcPts val="3080"/>
              </a:lnSpc>
              <a:buFont typeface="Arial"/>
              <a:buChar char="•"/>
            </a:pPr>
            <a:r>
              <a:rPr lang="en-US" sz="2200">
                <a:solidFill>
                  <a:srgbClr val="06434B"/>
                </a:solidFill>
                <a:latin typeface="Nunito"/>
                <a:ea typeface="Nunito"/>
                <a:cs typeface="Nunito"/>
                <a:sym typeface="Nunito"/>
              </a:rPr>
              <a:t>Each cell holds either:</a:t>
            </a:r>
          </a:p>
          <a:p>
            <a:pPr algn="ctr" marL="474983" indent="-237491" lvl="1">
              <a:lnSpc>
                <a:spcPts val="3080"/>
              </a:lnSpc>
              <a:buFont typeface="Arial"/>
              <a:buChar char="•"/>
            </a:pPr>
            <a:r>
              <a:rPr lang="en-US" sz="2200">
                <a:solidFill>
                  <a:srgbClr val="06434B"/>
                </a:solidFill>
                <a:latin typeface="Nunito"/>
                <a:ea typeface="Nunito"/>
                <a:cs typeface="Nunito"/>
                <a:sym typeface="Nunito"/>
              </a:rPr>
              <a:t>0 → safe (human)</a:t>
            </a:r>
          </a:p>
          <a:p>
            <a:pPr algn="ctr" marL="474983" indent="-237491" lvl="1">
              <a:lnSpc>
                <a:spcPts val="3080"/>
              </a:lnSpc>
              <a:buFont typeface="Arial"/>
              <a:buChar char="•"/>
            </a:pPr>
            <a:r>
              <a:rPr lang="en-US" sz="2200">
                <a:solidFill>
                  <a:srgbClr val="06434B"/>
                </a:solidFill>
                <a:latin typeface="Nunito"/>
                <a:ea typeface="Nunito"/>
                <a:cs typeface="Nunito"/>
                <a:sym typeface="Nunito"/>
              </a:rPr>
              <a:t>1 → infected (zombie)</a:t>
            </a:r>
          </a:p>
          <a:p>
            <a:pPr algn="ctr" marL="0" indent="0" lvl="0">
              <a:lnSpc>
                <a:spcPts val="3080"/>
              </a:lnSpc>
            </a:pPr>
          </a:p>
        </p:txBody>
      </p:sp>
      <p:sp>
        <p:nvSpPr>
          <p:cNvPr name="TextBox 15" id="15"/>
          <p:cNvSpPr txBox="true"/>
          <p:nvPr/>
        </p:nvSpPr>
        <p:spPr>
          <a:xfrm rot="0">
            <a:off x="1550731" y="4328434"/>
            <a:ext cx="2601260" cy="495300"/>
          </a:xfrm>
          <a:prstGeom prst="rect">
            <a:avLst/>
          </a:prstGeom>
        </p:spPr>
        <p:txBody>
          <a:bodyPr anchor="t" rtlCol="false" tIns="0" lIns="0" bIns="0" rIns="0">
            <a:spAutoFit/>
          </a:bodyPr>
          <a:lstStyle/>
          <a:p>
            <a:pPr algn="ctr" marL="0" indent="0" lvl="0">
              <a:lnSpc>
                <a:spcPts val="4199"/>
              </a:lnSpc>
            </a:pPr>
            <a:r>
              <a:rPr lang="en-US" b="true" sz="2999">
                <a:solidFill>
                  <a:srgbClr val="06434B"/>
                </a:solidFill>
                <a:latin typeface="Nunito Bold"/>
                <a:ea typeface="Nunito Bold"/>
                <a:cs typeface="Nunito Bold"/>
                <a:sym typeface="Nunito Bold"/>
              </a:rPr>
              <a:t>2D Array</a:t>
            </a:r>
          </a:p>
        </p:txBody>
      </p:sp>
      <p:sp>
        <p:nvSpPr>
          <p:cNvPr name="TextBox 16" id="16"/>
          <p:cNvSpPr txBox="true"/>
          <p:nvPr/>
        </p:nvSpPr>
        <p:spPr>
          <a:xfrm rot="0">
            <a:off x="5471521" y="5105400"/>
            <a:ext cx="3154536" cy="3887048"/>
          </a:xfrm>
          <a:prstGeom prst="rect">
            <a:avLst/>
          </a:prstGeom>
        </p:spPr>
        <p:txBody>
          <a:bodyPr anchor="t" rtlCol="false" tIns="0" lIns="0" bIns="0" rIns="0">
            <a:spAutoFit/>
          </a:bodyPr>
          <a:lstStyle/>
          <a:p>
            <a:pPr algn="ctr" marL="474983" indent="-237491" lvl="1">
              <a:lnSpc>
                <a:spcPts val="3080"/>
              </a:lnSpc>
              <a:buFont typeface="Arial"/>
              <a:buChar char="•"/>
            </a:pPr>
            <a:r>
              <a:rPr lang="en-US" sz="2200">
                <a:solidFill>
                  <a:srgbClr val="06434B"/>
                </a:solidFill>
                <a:latin typeface="Nunito"/>
                <a:ea typeface="Nunito"/>
                <a:cs typeface="Nunito"/>
                <a:sym typeface="Nunito"/>
              </a:rPr>
              <a:t>Custom struct ZombieLocation stores:</a:t>
            </a:r>
          </a:p>
          <a:p>
            <a:pPr algn="ctr" marL="474983" indent="-237491" lvl="1">
              <a:lnSpc>
                <a:spcPts val="3080"/>
              </a:lnSpc>
              <a:buFont typeface="Arial"/>
              <a:buChar char="•"/>
            </a:pPr>
            <a:r>
              <a:rPr lang="en-US" sz="2200">
                <a:solidFill>
                  <a:srgbClr val="06434B"/>
                </a:solidFill>
                <a:latin typeface="Nunito"/>
                <a:ea typeface="Nunito"/>
                <a:cs typeface="Nunito"/>
                <a:sym typeface="Nunito"/>
              </a:rPr>
              <a:t>X and Y positions (row, col)</a:t>
            </a:r>
          </a:p>
          <a:p>
            <a:pPr algn="ctr" marL="474983" indent="-237491" lvl="1">
              <a:lnSpc>
                <a:spcPts val="3080"/>
              </a:lnSpc>
              <a:buFont typeface="Arial"/>
              <a:buChar char="•"/>
            </a:pPr>
            <a:r>
              <a:rPr lang="en-US" sz="2200">
                <a:solidFill>
                  <a:srgbClr val="06434B"/>
                </a:solidFill>
                <a:latin typeface="Nunito"/>
                <a:ea typeface="Nunito"/>
                <a:cs typeface="Nunito"/>
                <a:sym typeface="Nunito"/>
              </a:rPr>
              <a:t>Time (hours since infection)</a:t>
            </a:r>
          </a:p>
          <a:p>
            <a:pPr algn="ctr" marL="474983" indent="-237491" lvl="1">
              <a:lnSpc>
                <a:spcPts val="3080"/>
              </a:lnSpc>
              <a:buFont typeface="Arial"/>
              <a:buChar char="•"/>
            </a:pPr>
            <a:r>
              <a:rPr lang="en-US" sz="2200">
                <a:solidFill>
                  <a:srgbClr val="06434B"/>
                </a:solidFill>
                <a:latin typeface="Nunito"/>
                <a:ea typeface="Nunito"/>
                <a:cs typeface="Nunito"/>
                <a:sym typeface="Nunito"/>
              </a:rPr>
              <a:t>Helps in organizing zombie data neatly.</a:t>
            </a:r>
          </a:p>
          <a:p>
            <a:pPr algn="ctr" marL="0" indent="0" lvl="0">
              <a:lnSpc>
                <a:spcPts val="3080"/>
              </a:lnSpc>
            </a:pPr>
          </a:p>
        </p:txBody>
      </p:sp>
      <p:sp>
        <p:nvSpPr>
          <p:cNvPr name="TextBox 17" id="17"/>
          <p:cNvSpPr txBox="true"/>
          <p:nvPr/>
        </p:nvSpPr>
        <p:spPr>
          <a:xfrm rot="0">
            <a:off x="5748159" y="4328434"/>
            <a:ext cx="2601260" cy="495300"/>
          </a:xfrm>
          <a:prstGeom prst="rect">
            <a:avLst/>
          </a:prstGeom>
        </p:spPr>
        <p:txBody>
          <a:bodyPr anchor="t" rtlCol="false" tIns="0" lIns="0" bIns="0" rIns="0">
            <a:spAutoFit/>
          </a:bodyPr>
          <a:lstStyle/>
          <a:p>
            <a:pPr algn="ctr" marL="0" indent="0" lvl="0">
              <a:lnSpc>
                <a:spcPts val="4199"/>
              </a:lnSpc>
            </a:pPr>
            <a:r>
              <a:rPr lang="en-US" b="true" sz="2999">
                <a:solidFill>
                  <a:srgbClr val="06434B"/>
                </a:solidFill>
                <a:latin typeface="Nunito Bold"/>
                <a:ea typeface="Nunito Bold"/>
                <a:cs typeface="Nunito Bold"/>
                <a:sym typeface="Nunito Bold"/>
              </a:rPr>
              <a:t>Structure</a:t>
            </a:r>
          </a:p>
        </p:txBody>
      </p:sp>
      <p:sp>
        <p:nvSpPr>
          <p:cNvPr name="TextBox 18" id="18"/>
          <p:cNvSpPr txBox="true"/>
          <p:nvPr/>
        </p:nvSpPr>
        <p:spPr>
          <a:xfrm rot="0">
            <a:off x="9659270" y="5105400"/>
            <a:ext cx="3166822" cy="3887048"/>
          </a:xfrm>
          <a:prstGeom prst="rect">
            <a:avLst/>
          </a:prstGeom>
        </p:spPr>
        <p:txBody>
          <a:bodyPr anchor="t" rtlCol="false" tIns="0" lIns="0" bIns="0" rIns="0">
            <a:spAutoFit/>
          </a:bodyPr>
          <a:lstStyle/>
          <a:p>
            <a:pPr algn="ctr" marL="474983" indent="-237491" lvl="1">
              <a:lnSpc>
                <a:spcPts val="3080"/>
              </a:lnSpc>
              <a:spcBef>
                <a:spcPct val="0"/>
              </a:spcBef>
              <a:buFont typeface="Arial"/>
              <a:buChar char="•"/>
            </a:pPr>
            <a:r>
              <a:rPr lang="en-US" sz="2200" strike="noStrike" u="none">
                <a:solidFill>
                  <a:srgbClr val="06434B"/>
                </a:solidFill>
                <a:latin typeface="Nunito"/>
                <a:ea typeface="Nunito"/>
                <a:cs typeface="Nunito"/>
                <a:sym typeface="Nunito"/>
              </a:rPr>
              <a:t>Implements Breadth-First Search (BFS) logic.</a:t>
            </a:r>
          </a:p>
          <a:p>
            <a:pPr algn="ctr" marL="474983" indent="-237491" lvl="1">
              <a:lnSpc>
                <a:spcPts val="3080"/>
              </a:lnSpc>
              <a:spcBef>
                <a:spcPct val="0"/>
              </a:spcBef>
              <a:buFont typeface="Arial"/>
              <a:buChar char="•"/>
            </a:pPr>
            <a:r>
              <a:rPr lang="en-US" sz="2200" strike="noStrike" u="none">
                <a:solidFill>
                  <a:srgbClr val="06434B"/>
                </a:solidFill>
                <a:latin typeface="Nunito"/>
                <a:ea typeface="Nunito"/>
                <a:cs typeface="Nunito"/>
                <a:sym typeface="Nunito"/>
              </a:rPr>
              <a:t>Zombies are processed level by level (hour by hour).</a:t>
            </a:r>
          </a:p>
          <a:p>
            <a:pPr algn="ctr" marL="474983" indent="-237491" lvl="1">
              <a:lnSpc>
                <a:spcPts val="3080"/>
              </a:lnSpc>
              <a:spcBef>
                <a:spcPct val="0"/>
              </a:spcBef>
              <a:buFont typeface="Arial"/>
              <a:buChar char="•"/>
            </a:pPr>
            <a:r>
              <a:rPr lang="en-US" sz="2200" strike="noStrike" u="none">
                <a:solidFill>
                  <a:srgbClr val="06434B"/>
                </a:solidFill>
                <a:latin typeface="Nunito"/>
                <a:ea typeface="Nunito"/>
                <a:cs typeface="Nunito"/>
                <a:sym typeface="Nunito"/>
              </a:rPr>
              <a:t>Newly infected zones are enqueued for the next infection wave.</a:t>
            </a:r>
          </a:p>
          <a:p>
            <a:pPr algn="ctr" marL="0" indent="0" lvl="0">
              <a:lnSpc>
                <a:spcPts val="3080"/>
              </a:lnSpc>
              <a:spcBef>
                <a:spcPct val="0"/>
              </a:spcBef>
            </a:pPr>
          </a:p>
        </p:txBody>
      </p:sp>
      <p:sp>
        <p:nvSpPr>
          <p:cNvPr name="TextBox 19" id="19"/>
          <p:cNvSpPr txBox="true"/>
          <p:nvPr/>
        </p:nvSpPr>
        <p:spPr>
          <a:xfrm rot="0">
            <a:off x="9945588" y="4328434"/>
            <a:ext cx="2601260" cy="495300"/>
          </a:xfrm>
          <a:prstGeom prst="rect">
            <a:avLst/>
          </a:prstGeom>
        </p:spPr>
        <p:txBody>
          <a:bodyPr anchor="t" rtlCol="false" tIns="0" lIns="0" bIns="0" rIns="0">
            <a:spAutoFit/>
          </a:bodyPr>
          <a:lstStyle/>
          <a:p>
            <a:pPr algn="ctr" marL="0" indent="0" lvl="0">
              <a:lnSpc>
                <a:spcPts val="4199"/>
              </a:lnSpc>
            </a:pPr>
            <a:r>
              <a:rPr lang="en-US" b="true" sz="2999">
                <a:solidFill>
                  <a:srgbClr val="06434B"/>
                </a:solidFill>
                <a:latin typeface="Nunito Bold"/>
                <a:ea typeface="Nunito Bold"/>
                <a:cs typeface="Nunito Bold"/>
                <a:sym typeface="Nunito Bold"/>
              </a:rPr>
              <a:t>Queue </a:t>
            </a:r>
          </a:p>
        </p:txBody>
      </p:sp>
      <p:sp>
        <p:nvSpPr>
          <p:cNvPr name="TextBox 20" id="20"/>
          <p:cNvSpPr txBox="true"/>
          <p:nvPr/>
        </p:nvSpPr>
        <p:spPr>
          <a:xfrm rot="0">
            <a:off x="14143017" y="5682088"/>
            <a:ext cx="2601260" cy="1934634"/>
          </a:xfrm>
          <a:prstGeom prst="rect">
            <a:avLst/>
          </a:prstGeom>
        </p:spPr>
        <p:txBody>
          <a:bodyPr anchor="t" rtlCol="false" tIns="0" lIns="0" bIns="0" rIns="0">
            <a:spAutoFit/>
          </a:bodyPr>
          <a:lstStyle/>
          <a:p>
            <a:pPr algn="ctr" marL="0" indent="0" lvl="0">
              <a:lnSpc>
                <a:spcPts val="3080"/>
              </a:lnSpc>
            </a:pPr>
            <a:r>
              <a:rPr lang="en-US" sz="2200">
                <a:solidFill>
                  <a:srgbClr val="06434B"/>
                </a:solidFill>
                <a:latin typeface="Nunito"/>
                <a:ea typeface="Nunito"/>
                <a:cs typeface="Nunito"/>
                <a:sym typeface="Nunito"/>
              </a:rPr>
              <a:t>Used to scan the city, process infection logic, and simulate the time flow.</a:t>
            </a:r>
          </a:p>
        </p:txBody>
      </p:sp>
      <p:sp>
        <p:nvSpPr>
          <p:cNvPr name="TextBox 21" id="21"/>
          <p:cNvSpPr txBox="true"/>
          <p:nvPr/>
        </p:nvSpPr>
        <p:spPr>
          <a:xfrm rot="0">
            <a:off x="14143017" y="4328434"/>
            <a:ext cx="2601260" cy="1019175"/>
          </a:xfrm>
          <a:prstGeom prst="rect">
            <a:avLst/>
          </a:prstGeom>
        </p:spPr>
        <p:txBody>
          <a:bodyPr anchor="t" rtlCol="false" tIns="0" lIns="0" bIns="0" rIns="0">
            <a:spAutoFit/>
          </a:bodyPr>
          <a:lstStyle/>
          <a:p>
            <a:pPr algn="ctr" marL="0" indent="0" lvl="0">
              <a:lnSpc>
                <a:spcPts val="4199"/>
              </a:lnSpc>
            </a:pPr>
            <a:r>
              <a:rPr lang="en-US" b="true" sz="2999">
                <a:solidFill>
                  <a:srgbClr val="06434B"/>
                </a:solidFill>
                <a:latin typeface="Nunito Bold"/>
                <a:ea typeface="Nunito Bold"/>
                <a:cs typeface="Nunito Bold"/>
                <a:sym typeface="Nunito Bold"/>
              </a:rPr>
              <a:t>Loops and Conditionals</a:t>
            </a:r>
          </a:p>
        </p:txBody>
      </p:sp>
      <p:sp>
        <p:nvSpPr>
          <p:cNvPr name="TextBox 22" id="22"/>
          <p:cNvSpPr txBox="true"/>
          <p:nvPr/>
        </p:nvSpPr>
        <p:spPr>
          <a:xfrm rot="0">
            <a:off x="1550731" y="2698309"/>
            <a:ext cx="15193546" cy="895943"/>
          </a:xfrm>
          <a:prstGeom prst="rect">
            <a:avLst/>
          </a:prstGeom>
        </p:spPr>
        <p:txBody>
          <a:bodyPr anchor="t" rtlCol="false" tIns="0" lIns="0" bIns="0" rIns="0">
            <a:spAutoFit/>
          </a:bodyPr>
          <a:lstStyle/>
          <a:p>
            <a:pPr algn="ctr">
              <a:lnSpc>
                <a:spcPts val="3639"/>
              </a:lnSpc>
            </a:pPr>
            <a:r>
              <a:rPr lang="en-US" sz="2599">
                <a:solidFill>
                  <a:srgbClr val="06434B"/>
                </a:solidFill>
                <a:latin typeface="Nunito"/>
                <a:ea typeface="Nunito"/>
                <a:cs typeface="Nunito"/>
                <a:sym typeface="Nunito"/>
              </a:rPr>
              <a:t>This project applies several important data structure concepts learned in this couse to simulate the zombie outbreak efficiently</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366111"/>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601135" y="3239156"/>
            <a:ext cx="1381570" cy="1381570"/>
          </a:xfrm>
          <a:custGeom>
            <a:avLst/>
            <a:gdLst/>
            <a:ahLst/>
            <a:cxnLst/>
            <a:rect r="r" b="b" t="t" l="l"/>
            <a:pathLst>
              <a:path h="1381570" w="1381570">
                <a:moveTo>
                  <a:pt x="0" y="0"/>
                </a:moveTo>
                <a:lnTo>
                  <a:pt x="1381570" y="0"/>
                </a:lnTo>
                <a:lnTo>
                  <a:pt x="1381570" y="1381570"/>
                </a:lnTo>
                <a:lnTo>
                  <a:pt x="0" y="1381570"/>
                </a:lnTo>
                <a:lnTo>
                  <a:pt x="0" y="0"/>
                </a:lnTo>
                <a:close/>
              </a:path>
            </a:pathLst>
          </a:custGeom>
          <a:blipFill>
            <a:blip r:embed="rId4">
              <a:alphaModFix amt="48000"/>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6777171" y="3415191"/>
            <a:ext cx="1029499" cy="102949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7" id="7"/>
          <p:cNvSpPr txBox="true"/>
          <p:nvPr/>
        </p:nvSpPr>
        <p:spPr>
          <a:xfrm rot="0">
            <a:off x="8251746" y="3891841"/>
            <a:ext cx="8359747" cy="1249596"/>
          </a:xfrm>
          <a:prstGeom prst="rect">
            <a:avLst/>
          </a:prstGeom>
        </p:spPr>
        <p:txBody>
          <a:bodyPr anchor="t" rtlCol="false" tIns="0" lIns="0" bIns="0" rIns="0">
            <a:spAutoFit/>
          </a:bodyPr>
          <a:lstStyle/>
          <a:p>
            <a:pPr algn="l" marL="388620" indent="-194310" lvl="1">
              <a:lnSpc>
                <a:spcPts val="2520"/>
              </a:lnSpc>
              <a:buFont typeface="Arial"/>
              <a:buChar char="•"/>
            </a:pPr>
            <a:r>
              <a:rPr lang="en-US" sz="1800">
                <a:solidFill>
                  <a:srgbClr val="5B7ABE"/>
                </a:solidFill>
                <a:latin typeface="Red Hat Display"/>
                <a:ea typeface="Red Hat Display"/>
                <a:cs typeface="Red Hat Display"/>
                <a:sym typeface="Red Hat Display"/>
              </a:rPr>
              <a:t>Take the grid size and city layout as input.</a:t>
            </a:r>
          </a:p>
          <a:p>
            <a:pPr algn="l" marL="388620" indent="-194310" lvl="1">
              <a:lnSpc>
                <a:spcPts val="2520"/>
              </a:lnSpc>
              <a:buFont typeface="Arial"/>
              <a:buChar char="•"/>
            </a:pPr>
            <a:r>
              <a:rPr lang="en-US" sz="1800">
                <a:solidFill>
                  <a:srgbClr val="5B7ABE"/>
                </a:solidFill>
                <a:latin typeface="Red Hat Display"/>
                <a:ea typeface="Red Hat Display"/>
                <a:cs typeface="Red Hat Display"/>
                <a:sym typeface="Red Hat Display"/>
              </a:rPr>
              <a:t>0 = safe (human), 1 = infected (zombie).</a:t>
            </a:r>
          </a:p>
          <a:p>
            <a:pPr algn="l" marL="388620" indent="-194310" lvl="1">
              <a:lnSpc>
                <a:spcPts val="2520"/>
              </a:lnSpc>
              <a:buFont typeface="Arial"/>
              <a:buChar char="•"/>
            </a:pPr>
            <a:r>
              <a:rPr lang="en-US" sz="1800">
                <a:solidFill>
                  <a:srgbClr val="5B7ABE"/>
                </a:solidFill>
                <a:latin typeface="Red Hat Display"/>
                <a:ea typeface="Red Hat Display"/>
                <a:cs typeface="Red Hat Display"/>
                <a:sym typeface="Red Hat Display"/>
              </a:rPr>
              <a:t>Add</a:t>
            </a:r>
            <a:r>
              <a:rPr lang="en-US" sz="1800">
                <a:solidFill>
                  <a:srgbClr val="5B7ABE"/>
                </a:solidFill>
                <a:latin typeface="Red Hat Display"/>
                <a:ea typeface="Red Hat Display"/>
                <a:cs typeface="Red Hat Display"/>
                <a:sym typeface="Red Hat Display"/>
              </a:rPr>
              <a:t> all infected cells to the queue.</a:t>
            </a:r>
          </a:p>
          <a:p>
            <a:pPr algn="l">
              <a:lnSpc>
                <a:spcPts val="2520"/>
              </a:lnSpc>
            </a:pPr>
          </a:p>
        </p:txBody>
      </p:sp>
      <p:sp>
        <p:nvSpPr>
          <p:cNvPr name="TextBox 8" id="8"/>
          <p:cNvSpPr txBox="true"/>
          <p:nvPr/>
        </p:nvSpPr>
        <p:spPr>
          <a:xfrm rot="0">
            <a:off x="8251746" y="3296818"/>
            <a:ext cx="5936813" cy="431986"/>
          </a:xfrm>
          <a:prstGeom prst="rect">
            <a:avLst/>
          </a:prstGeom>
        </p:spPr>
        <p:txBody>
          <a:bodyPr anchor="t" rtlCol="false" tIns="0" lIns="0" bIns="0" rIns="0">
            <a:spAutoFit/>
          </a:bodyPr>
          <a:lstStyle/>
          <a:p>
            <a:pPr algn="l">
              <a:lnSpc>
                <a:spcPts val="3483"/>
              </a:lnSpc>
            </a:pPr>
            <a:r>
              <a:rPr lang="en-US" b="true" sz="2799">
                <a:solidFill>
                  <a:srgbClr val="2D2261"/>
                </a:solidFill>
                <a:latin typeface="Red Hat Display Bold"/>
                <a:ea typeface="Red Hat Display Bold"/>
                <a:cs typeface="Red Hat Display Bold"/>
                <a:sym typeface="Red Hat Display Bold"/>
              </a:rPr>
              <a:t>Input and Setup</a:t>
            </a:r>
          </a:p>
        </p:txBody>
      </p:sp>
      <p:sp>
        <p:nvSpPr>
          <p:cNvPr name="TextBox 9" id="9"/>
          <p:cNvSpPr txBox="true"/>
          <p:nvPr/>
        </p:nvSpPr>
        <p:spPr>
          <a:xfrm rot="0">
            <a:off x="6812008" y="3676944"/>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01</a:t>
            </a:r>
          </a:p>
        </p:txBody>
      </p:sp>
      <p:sp>
        <p:nvSpPr>
          <p:cNvPr name="Freeform 10" id="10"/>
          <p:cNvSpPr/>
          <p:nvPr/>
        </p:nvSpPr>
        <p:spPr>
          <a:xfrm flipH="false" flipV="false" rot="0">
            <a:off x="6601135" y="4960407"/>
            <a:ext cx="1381570" cy="1381570"/>
          </a:xfrm>
          <a:custGeom>
            <a:avLst/>
            <a:gdLst/>
            <a:ahLst/>
            <a:cxnLst/>
            <a:rect r="r" b="b" t="t" l="l"/>
            <a:pathLst>
              <a:path h="1381570" w="1381570">
                <a:moveTo>
                  <a:pt x="0" y="0"/>
                </a:moveTo>
                <a:lnTo>
                  <a:pt x="1381570" y="0"/>
                </a:lnTo>
                <a:lnTo>
                  <a:pt x="1381570" y="1381570"/>
                </a:lnTo>
                <a:lnTo>
                  <a:pt x="0" y="1381570"/>
                </a:lnTo>
                <a:lnTo>
                  <a:pt x="0" y="0"/>
                </a:lnTo>
                <a:close/>
              </a:path>
            </a:pathLst>
          </a:custGeom>
          <a:blipFill>
            <a:blip r:embed="rId4">
              <a:alphaModFix amt="48000"/>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6777171" y="5136442"/>
            <a:ext cx="1029499" cy="10294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14" id="14"/>
          <p:cNvSpPr txBox="true"/>
          <p:nvPr/>
        </p:nvSpPr>
        <p:spPr>
          <a:xfrm rot="0">
            <a:off x="8251746" y="5613092"/>
            <a:ext cx="8632414" cy="935292"/>
          </a:xfrm>
          <a:prstGeom prst="rect">
            <a:avLst/>
          </a:prstGeom>
        </p:spPr>
        <p:txBody>
          <a:bodyPr anchor="t" rtlCol="false" tIns="0" lIns="0" bIns="0" rIns="0">
            <a:spAutoFit/>
          </a:bodyPr>
          <a:lstStyle/>
          <a:p>
            <a:pPr algn="l" marL="388620" indent="-194310" lvl="1">
              <a:lnSpc>
                <a:spcPts val="2520"/>
              </a:lnSpc>
              <a:buFont typeface="Arial"/>
              <a:buChar char="•"/>
            </a:pPr>
            <a:r>
              <a:rPr lang="en-US" sz="1800">
                <a:solidFill>
                  <a:srgbClr val="5B7ABE"/>
                </a:solidFill>
                <a:latin typeface="Red Hat Display"/>
                <a:ea typeface="Red Hat Display"/>
                <a:cs typeface="Red Hat Display"/>
                <a:sym typeface="Red Hat Display"/>
              </a:rPr>
              <a:t>Use a queue to spread infection hour by hour.</a:t>
            </a:r>
          </a:p>
          <a:p>
            <a:pPr algn="l" marL="388620" indent="-194310" lvl="1">
              <a:lnSpc>
                <a:spcPts val="2520"/>
              </a:lnSpc>
              <a:buFont typeface="Arial"/>
              <a:buChar char="•"/>
            </a:pPr>
            <a:r>
              <a:rPr lang="en-US" sz="1800">
                <a:solidFill>
                  <a:srgbClr val="5B7ABE"/>
                </a:solidFill>
                <a:latin typeface="Red Hat Display"/>
                <a:ea typeface="Red Hat Display"/>
                <a:cs typeface="Red Hat Display"/>
                <a:sym typeface="Red Hat Display"/>
              </a:rPr>
              <a:t>A zombie infects its 4 neighbors (up, down, left, right) if they are</a:t>
            </a:r>
            <a:r>
              <a:rPr lang="en-US" sz="1800">
                <a:solidFill>
                  <a:srgbClr val="5B7ABE"/>
                </a:solidFill>
                <a:latin typeface="Red Hat Display"/>
                <a:ea typeface="Red Hat Display"/>
                <a:cs typeface="Red Hat Display"/>
                <a:sym typeface="Red Hat Display"/>
              </a:rPr>
              <a:t> safe.</a:t>
            </a:r>
          </a:p>
          <a:p>
            <a:pPr algn="l">
              <a:lnSpc>
                <a:spcPts val="2520"/>
              </a:lnSpc>
            </a:pPr>
          </a:p>
        </p:txBody>
      </p:sp>
      <p:sp>
        <p:nvSpPr>
          <p:cNvPr name="TextBox 15" id="15"/>
          <p:cNvSpPr txBox="true"/>
          <p:nvPr/>
        </p:nvSpPr>
        <p:spPr>
          <a:xfrm rot="0">
            <a:off x="8251746" y="5018069"/>
            <a:ext cx="7748151" cy="431986"/>
          </a:xfrm>
          <a:prstGeom prst="rect">
            <a:avLst/>
          </a:prstGeom>
        </p:spPr>
        <p:txBody>
          <a:bodyPr anchor="t" rtlCol="false" tIns="0" lIns="0" bIns="0" rIns="0">
            <a:spAutoFit/>
          </a:bodyPr>
          <a:lstStyle/>
          <a:p>
            <a:pPr algn="l">
              <a:lnSpc>
                <a:spcPts val="3483"/>
              </a:lnSpc>
            </a:pPr>
            <a:r>
              <a:rPr lang="en-US" b="true" sz="2799">
                <a:solidFill>
                  <a:srgbClr val="2D2261"/>
                </a:solidFill>
                <a:latin typeface="Red Hat Display Bold"/>
                <a:ea typeface="Red Hat Display Bold"/>
                <a:cs typeface="Red Hat Display Bold"/>
                <a:sym typeface="Red Hat Display Bold"/>
              </a:rPr>
              <a:t>Start Spreading</a:t>
            </a:r>
          </a:p>
        </p:txBody>
      </p:sp>
      <p:sp>
        <p:nvSpPr>
          <p:cNvPr name="TextBox 16" id="16"/>
          <p:cNvSpPr txBox="true"/>
          <p:nvPr/>
        </p:nvSpPr>
        <p:spPr>
          <a:xfrm rot="0">
            <a:off x="6812008" y="5398195"/>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02</a:t>
            </a:r>
          </a:p>
        </p:txBody>
      </p:sp>
      <p:sp>
        <p:nvSpPr>
          <p:cNvPr name="Freeform 17" id="17"/>
          <p:cNvSpPr/>
          <p:nvPr/>
        </p:nvSpPr>
        <p:spPr>
          <a:xfrm flipH="false" flipV="false" rot="0">
            <a:off x="6601135" y="6681658"/>
            <a:ext cx="1381570" cy="1381570"/>
          </a:xfrm>
          <a:custGeom>
            <a:avLst/>
            <a:gdLst/>
            <a:ahLst/>
            <a:cxnLst/>
            <a:rect r="r" b="b" t="t" l="l"/>
            <a:pathLst>
              <a:path h="1381570" w="1381570">
                <a:moveTo>
                  <a:pt x="0" y="0"/>
                </a:moveTo>
                <a:lnTo>
                  <a:pt x="1381570" y="0"/>
                </a:lnTo>
                <a:lnTo>
                  <a:pt x="1381570" y="1381570"/>
                </a:lnTo>
                <a:lnTo>
                  <a:pt x="0" y="1381570"/>
                </a:lnTo>
                <a:lnTo>
                  <a:pt x="0" y="0"/>
                </a:lnTo>
                <a:close/>
              </a:path>
            </a:pathLst>
          </a:custGeom>
          <a:blipFill>
            <a:blip r:embed="rId4">
              <a:alphaModFix amt="48000"/>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0">
            <a:off x="6777171" y="6857694"/>
            <a:ext cx="1029499" cy="102949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0" id="20"/>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21" id="21"/>
          <p:cNvSpPr txBox="true"/>
          <p:nvPr/>
        </p:nvSpPr>
        <p:spPr>
          <a:xfrm rot="0">
            <a:off x="8251746" y="7334343"/>
            <a:ext cx="7516956" cy="935292"/>
          </a:xfrm>
          <a:prstGeom prst="rect">
            <a:avLst/>
          </a:prstGeom>
        </p:spPr>
        <p:txBody>
          <a:bodyPr anchor="t" rtlCol="false" tIns="0" lIns="0" bIns="0" rIns="0">
            <a:spAutoFit/>
          </a:bodyPr>
          <a:lstStyle/>
          <a:p>
            <a:pPr algn="l" marL="388620" indent="-194310" lvl="1">
              <a:lnSpc>
                <a:spcPts val="2520"/>
              </a:lnSpc>
              <a:buFont typeface="Arial"/>
              <a:buChar char="•"/>
            </a:pPr>
            <a:r>
              <a:rPr lang="en-US" sz="1800">
                <a:solidFill>
                  <a:srgbClr val="5B7ABE"/>
                </a:solidFill>
                <a:latin typeface="Red Hat Display"/>
                <a:ea typeface="Red Hat Display"/>
                <a:cs typeface="Red Hat Display"/>
                <a:sym typeface="Red Hat Display"/>
              </a:rPr>
              <a:t>Each new infection increases the time by 1.</a:t>
            </a:r>
          </a:p>
          <a:p>
            <a:pPr algn="l" marL="388620" indent="-194310" lvl="1">
              <a:lnSpc>
                <a:spcPts val="2520"/>
              </a:lnSpc>
              <a:buFont typeface="Arial"/>
              <a:buChar char="•"/>
            </a:pPr>
            <a:r>
              <a:rPr lang="en-US" sz="1800">
                <a:solidFill>
                  <a:srgbClr val="5B7ABE"/>
                </a:solidFill>
                <a:latin typeface="Red Hat Display"/>
                <a:ea typeface="Red Hat Display"/>
                <a:cs typeface="Red Hat Display"/>
                <a:sym typeface="Red Hat Display"/>
              </a:rPr>
              <a:t>Keep updating the maximum time it takes to infect.</a:t>
            </a:r>
          </a:p>
          <a:p>
            <a:pPr algn="l">
              <a:lnSpc>
                <a:spcPts val="2520"/>
              </a:lnSpc>
            </a:pPr>
          </a:p>
        </p:txBody>
      </p:sp>
      <p:sp>
        <p:nvSpPr>
          <p:cNvPr name="TextBox 22" id="22"/>
          <p:cNvSpPr txBox="true"/>
          <p:nvPr/>
        </p:nvSpPr>
        <p:spPr>
          <a:xfrm rot="0">
            <a:off x="8251746" y="6739320"/>
            <a:ext cx="5936813" cy="431986"/>
          </a:xfrm>
          <a:prstGeom prst="rect">
            <a:avLst/>
          </a:prstGeom>
        </p:spPr>
        <p:txBody>
          <a:bodyPr anchor="t" rtlCol="false" tIns="0" lIns="0" bIns="0" rIns="0">
            <a:spAutoFit/>
          </a:bodyPr>
          <a:lstStyle/>
          <a:p>
            <a:pPr algn="l">
              <a:lnSpc>
                <a:spcPts val="3483"/>
              </a:lnSpc>
            </a:pPr>
            <a:r>
              <a:rPr lang="en-US" b="true" sz="2799">
                <a:solidFill>
                  <a:srgbClr val="2D2261"/>
                </a:solidFill>
                <a:latin typeface="Red Hat Display Bold"/>
                <a:ea typeface="Red Hat Display Bold"/>
                <a:cs typeface="Red Hat Display Bold"/>
                <a:sym typeface="Red Hat Display Bold"/>
              </a:rPr>
              <a:t>Track Time</a:t>
            </a:r>
          </a:p>
        </p:txBody>
      </p:sp>
      <p:sp>
        <p:nvSpPr>
          <p:cNvPr name="TextBox 23" id="23"/>
          <p:cNvSpPr txBox="true"/>
          <p:nvPr/>
        </p:nvSpPr>
        <p:spPr>
          <a:xfrm rot="0">
            <a:off x="6812008" y="7119446"/>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03</a:t>
            </a:r>
          </a:p>
        </p:txBody>
      </p:sp>
      <p:sp>
        <p:nvSpPr>
          <p:cNvPr name="Freeform 24" id="24"/>
          <p:cNvSpPr/>
          <p:nvPr/>
        </p:nvSpPr>
        <p:spPr>
          <a:xfrm flipH="false" flipV="false" rot="0">
            <a:off x="6601135" y="8402909"/>
            <a:ext cx="1381570" cy="1381570"/>
          </a:xfrm>
          <a:custGeom>
            <a:avLst/>
            <a:gdLst/>
            <a:ahLst/>
            <a:cxnLst/>
            <a:rect r="r" b="b" t="t" l="l"/>
            <a:pathLst>
              <a:path h="1381570" w="1381570">
                <a:moveTo>
                  <a:pt x="0" y="0"/>
                </a:moveTo>
                <a:lnTo>
                  <a:pt x="1381570" y="0"/>
                </a:lnTo>
                <a:lnTo>
                  <a:pt x="1381570" y="1381570"/>
                </a:lnTo>
                <a:lnTo>
                  <a:pt x="0" y="1381570"/>
                </a:lnTo>
                <a:lnTo>
                  <a:pt x="0" y="0"/>
                </a:lnTo>
                <a:close/>
              </a:path>
            </a:pathLst>
          </a:custGeom>
          <a:blipFill>
            <a:blip r:embed="rId4">
              <a:alphaModFix amt="48000"/>
              <a:extLst>
                <a:ext uri="{96DAC541-7B7A-43D3-8B79-37D633B846F1}">
                  <asvg:svgBlip xmlns:asvg="http://schemas.microsoft.com/office/drawing/2016/SVG/main" r:embed="rId5"/>
                </a:ext>
              </a:extLst>
            </a:blip>
            <a:stretch>
              <a:fillRect l="0" t="0" r="0" b="0"/>
            </a:stretch>
          </a:blipFill>
        </p:spPr>
      </p:sp>
      <p:grpSp>
        <p:nvGrpSpPr>
          <p:cNvPr name="Group 25" id="25"/>
          <p:cNvGrpSpPr/>
          <p:nvPr/>
        </p:nvGrpSpPr>
        <p:grpSpPr>
          <a:xfrm rot="0">
            <a:off x="6777171" y="8578945"/>
            <a:ext cx="1029499" cy="1029499"/>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7" id="27"/>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28" id="28"/>
          <p:cNvSpPr txBox="true"/>
          <p:nvPr/>
        </p:nvSpPr>
        <p:spPr>
          <a:xfrm rot="0">
            <a:off x="8251746" y="9055594"/>
            <a:ext cx="8070222" cy="935292"/>
          </a:xfrm>
          <a:prstGeom prst="rect">
            <a:avLst/>
          </a:prstGeom>
        </p:spPr>
        <p:txBody>
          <a:bodyPr anchor="t" rtlCol="false" tIns="0" lIns="0" bIns="0" rIns="0">
            <a:spAutoFit/>
          </a:bodyPr>
          <a:lstStyle/>
          <a:p>
            <a:pPr algn="l" marL="388620" indent="-194310" lvl="1">
              <a:lnSpc>
                <a:spcPts val="2520"/>
              </a:lnSpc>
              <a:buFont typeface="Arial"/>
              <a:buChar char="•"/>
            </a:pPr>
            <a:r>
              <a:rPr lang="en-US" sz="1800">
                <a:solidFill>
                  <a:srgbClr val="5B7ABE"/>
                </a:solidFill>
                <a:latin typeface="Red Hat Display"/>
                <a:ea typeface="Red Hat Display"/>
                <a:cs typeface="Red Hat Display"/>
                <a:sym typeface="Red Hat Display"/>
              </a:rPr>
              <a:t>If all zones are infected → print total hours.</a:t>
            </a:r>
          </a:p>
          <a:p>
            <a:pPr algn="l" marL="388620" indent="-194310" lvl="1">
              <a:lnSpc>
                <a:spcPts val="2520"/>
              </a:lnSpc>
              <a:buFont typeface="Arial"/>
              <a:buChar char="•"/>
            </a:pPr>
            <a:r>
              <a:rPr lang="en-US" sz="1800">
                <a:solidFill>
                  <a:srgbClr val="5B7ABE"/>
                </a:solidFill>
                <a:latin typeface="Red Hat Display"/>
                <a:ea typeface="Red Hat Display"/>
                <a:cs typeface="Red Hat Display"/>
                <a:sym typeface="Red Hat Display"/>
              </a:rPr>
              <a:t>If any safe zones are left → print "Some areas survived!"</a:t>
            </a:r>
          </a:p>
          <a:p>
            <a:pPr algn="l">
              <a:lnSpc>
                <a:spcPts val="2520"/>
              </a:lnSpc>
            </a:pPr>
          </a:p>
        </p:txBody>
      </p:sp>
      <p:sp>
        <p:nvSpPr>
          <p:cNvPr name="TextBox 29" id="29"/>
          <p:cNvSpPr txBox="true"/>
          <p:nvPr/>
        </p:nvSpPr>
        <p:spPr>
          <a:xfrm rot="0">
            <a:off x="8251746" y="8460571"/>
            <a:ext cx="5936813" cy="431986"/>
          </a:xfrm>
          <a:prstGeom prst="rect">
            <a:avLst/>
          </a:prstGeom>
        </p:spPr>
        <p:txBody>
          <a:bodyPr anchor="t" rtlCol="false" tIns="0" lIns="0" bIns="0" rIns="0">
            <a:spAutoFit/>
          </a:bodyPr>
          <a:lstStyle/>
          <a:p>
            <a:pPr algn="l">
              <a:lnSpc>
                <a:spcPts val="3483"/>
              </a:lnSpc>
            </a:pPr>
            <a:r>
              <a:rPr lang="en-US" b="true" sz="2799">
                <a:solidFill>
                  <a:srgbClr val="2D2261"/>
                </a:solidFill>
                <a:latin typeface="Red Hat Display Bold"/>
                <a:ea typeface="Red Hat Display Bold"/>
                <a:cs typeface="Red Hat Display Bold"/>
                <a:sym typeface="Red Hat Display Bold"/>
              </a:rPr>
              <a:t>Final Result</a:t>
            </a:r>
          </a:p>
        </p:txBody>
      </p:sp>
      <p:sp>
        <p:nvSpPr>
          <p:cNvPr name="TextBox 30" id="30"/>
          <p:cNvSpPr txBox="true"/>
          <p:nvPr/>
        </p:nvSpPr>
        <p:spPr>
          <a:xfrm rot="0">
            <a:off x="6812008" y="8840697"/>
            <a:ext cx="959825" cy="496419"/>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04</a:t>
            </a:r>
          </a:p>
        </p:txBody>
      </p:sp>
      <p:sp>
        <p:nvSpPr>
          <p:cNvPr name="TextBox 31" id="31"/>
          <p:cNvSpPr txBox="true"/>
          <p:nvPr/>
        </p:nvSpPr>
        <p:spPr>
          <a:xfrm rot="0">
            <a:off x="6601135" y="1973215"/>
            <a:ext cx="10918083" cy="1019843"/>
          </a:xfrm>
          <a:prstGeom prst="rect">
            <a:avLst/>
          </a:prstGeom>
        </p:spPr>
        <p:txBody>
          <a:bodyPr anchor="t" rtlCol="false" tIns="0" lIns="0" bIns="0" rIns="0">
            <a:spAutoFit/>
          </a:bodyPr>
          <a:lstStyle/>
          <a:p>
            <a:pPr algn="l">
              <a:lnSpc>
                <a:spcPts val="4163"/>
              </a:lnSpc>
            </a:pPr>
            <a:r>
              <a:rPr lang="en-US" sz="2973">
                <a:solidFill>
                  <a:srgbClr val="5B7ABE"/>
                </a:solidFill>
                <a:latin typeface="Red Hat Display"/>
                <a:ea typeface="Red Hat Display"/>
                <a:cs typeface="Red Hat Display"/>
                <a:sym typeface="Red Hat Display"/>
              </a:rPr>
              <a:t>The simulation follows a step-by-step process similar to Breadth-First Search (BFS) to spread infection:</a:t>
            </a:r>
          </a:p>
        </p:txBody>
      </p:sp>
      <p:sp>
        <p:nvSpPr>
          <p:cNvPr name="TextBox 32" id="32"/>
          <p:cNvSpPr txBox="true"/>
          <p:nvPr/>
        </p:nvSpPr>
        <p:spPr>
          <a:xfrm rot="0">
            <a:off x="6601135" y="962025"/>
            <a:ext cx="7989921" cy="897513"/>
          </a:xfrm>
          <a:prstGeom prst="rect">
            <a:avLst/>
          </a:prstGeom>
        </p:spPr>
        <p:txBody>
          <a:bodyPr anchor="t" rtlCol="false" tIns="0" lIns="0" bIns="0" rIns="0">
            <a:spAutoFit/>
          </a:bodyPr>
          <a:lstStyle/>
          <a:p>
            <a:pPr algn="l">
              <a:lnSpc>
                <a:spcPts val="7113"/>
              </a:lnSpc>
            </a:pPr>
            <a:r>
              <a:rPr lang="en-US" b="true" sz="5718">
                <a:solidFill>
                  <a:srgbClr val="2D2261"/>
                </a:solidFill>
                <a:latin typeface="Red Hat Display Bold"/>
                <a:ea typeface="Red Hat Display Bold"/>
                <a:cs typeface="Red Hat Display Bold"/>
                <a:sym typeface="Red Hat Display Bold"/>
              </a:rPr>
              <a:t>Algorithm Overview</a:t>
            </a:r>
          </a:p>
        </p:txBody>
      </p:sp>
      <p:sp>
        <p:nvSpPr>
          <p:cNvPr name="Freeform 33" id="33"/>
          <p:cNvSpPr/>
          <p:nvPr/>
        </p:nvSpPr>
        <p:spPr>
          <a:xfrm flipH="false" flipV="false" rot="715246">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34" id="34"/>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8">
              <a:alphaModFix amt="50000"/>
              <a:extLst>
                <a:ext uri="{96DAC541-7B7A-43D3-8B79-37D633B846F1}">
                  <asvg:svgBlip xmlns:asvg="http://schemas.microsoft.com/office/drawing/2016/SVG/main" r:embed="rId9"/>
                </a:ext>
              </a:extLst>
            </a:blip>
            <a:stretch>
              <a:fillRect l="0" t="0" r="0" b="0"/>
            </a:stretch>
          </a:blipFill>
        </p:spPr>
      </p:sp>
      <p:sp>
        <p:nvSpPr>
          <p:cNvPr name="Freeform 35" id="35"/>
          <p:cNvSpPr/>
          <p:nvPr/>
        </p:nvSpPr>
        <p:spPr>
          <a:xfrm flipH="false" flipV="false" rot="-226878">
            <a:off x="-267547" y="148087"/>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6" id="36"/>
          <p:cNvSpPr/>
          <p:nvPr/>
        </p:nvSpPr>
        <p:spPr>
          <a:xfrm flipH="false" flipV="false" rot="1175026">
            <a:off x="16376299" y="7891685"/>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transition spd="slow">
    <p:cover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TextBox 2" id="2"/>
          <p:cNvSpPr txBox="true"/>
          <p:nvPr/>
        </p:nvSpPr>
        <p:spPr>
          <a:xfrm rot="0">
            <a:off x="4645218" y="1386963"/>
            <a:ext cx="8994142"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Code</a:t>
            </a:r>
            <a:r>
              <a:rPr lang="en-US" b="true" sz="4332">
                <a:solidFill>
                  <a:srgbClr val="2D2261"/>
                </a:solidFill>
                <a:latin typeface="Red Hat Display Bold"/>
                <a:ea typeface="Red Hat Display Bold"/>
                <a:cs typeface="Red Hat Display Bold"/>
                <a:sym typeface="Red Hat Display Bold"/>
              </a:rPr>
              <a:t> Snapshot</a:t>
            </a:r>
          </a:p>
        </p:txBody>
      </p:sp>
      <p:grpSp>
        <p:nvGrpSpPr>
          <p:cNvPr name="Group 3" id="3"/>
          <p:cNvGrpSpPr/>
          <p:nvPr/>
        </p:nvGrpSpPr>
        <p:grpSpPr>
          <a:xfrm rot="0">
            <a:off x="2281895" y="3949509"/>
            <a:ext cx="4061528" cy="4589884"/>
            <a:chOff x="0" y="0"/>
            <a:chExt cx="1069703" cy="1208858"/>
          </a:xfrm>
        </p:grpSpPr>
        <p:sp>
          <p:nvSpPr>
            <p:cNvPr name="Freeform 4" id="4"/>
            <p:cNvSpPr/>
            <p:nvPr/>
          </p:nvSpPr>
          <p:spPr>
            <a:xfrm flipH="false" flipV="false" rot="0">
              <a:off x="0" y="0"/>
              <a:ext cx="1069703" cy="1208858"/>
            </a:xfrm>
            <a:custGeom>
              <a:avLst/>
              <a:gdLst/>
              <a:ahLst/>
              <a:cxnLst/>
              <a:rect r="r" b="b" t="t" l="l"/>
              <a:pathLst>
                <a:path h="1208858" w="1069703">
                  <a:moveTo>
                    <a:pt x="57185" y="0"/>
                  </a:moveTo>
                  <a:lnTo>
                    <a:pt x="1012518" y="0"/>
                  </a:lnTo>
                  <a:cubicBezTo>
                    <a:pt x="1027684" y="0"/>
                    <a:pt x="1042230" y="6025"/>
                    <a:pt x="1052954" y="16749"/>
                  </a:cubicBezTo>
                  <a:cubicBezTo>
                    <a:pt x="1063678" y="27473"/>
                    <a:pt x="1069703" y="42018"/>
                    <a:pt x="1069703" y="57185"/>
                  </a:cubicBezTo>
                  <a:lnTo>
                    <a:pt x="1069703" y="1151674"/>
                  </a:lnTo>
                  <a:cubicBezTo>
                    <a:pt x="1069703" y="1183256"/>
                    <a:pt x="1044100" y="1208858"/>
                    <a:pt x="1012518" y="1208858"/>
                  </a:cubicBezTo>
                  <a:lnTo>
                    <a:pt x="57185" y="1208858"/>
                  </a:lnTo>
                  <a:cubicBezTo>
                    <a:pt x="42018" y="1208858"/>
                    <a:pt x="27473" y="1202834"/>
                    <a:pt x="16749" y="1192109"/>
                  </a:cubicBezTo>
                  <a:cubicBezTo>
                    <a:pt x="6025" y="1181385"/>
                    <a:pt x="0" y="1166840"/>
                    <a:pt x="0" y="1151674"/>
                  </a:cubicBezTo>
                  <a:lnTo>
                    <a:pt x="0" y="57185"/>
                  </a:lnTo>
                  <a:cubicBezTo>
                    <a:pt x="0" y="42018"/>
                    <a:pt x="6025" y="27473"/>
                    <a:pt x="16749" y="16749"/>
                  </a:cubicBezTo>
                  <a:cubicBezTo>
                    <a:pt x="27473" y="6025"/>
                    <a:pt x="42018" y="0"/>
                    <a:pt x="57185" y="0"/>
                  </a:cubicBezTo>
                  <a:close/>
                </a:path>
              </a:pathLst>
            </a:custGeom>
            <a:solidFill>
              <a:srgbClr val="ECE1D7"/>
            </a:solidFill>
          </p:spPr>
        </p:sp>
        <p:sp>
          <p:nvSpPr>
            <p:cNvPr name="TextBox 5" id="5"/>
            <p:cNvSpPr txBox="true"/>
            <p:nvPr/>
          </p:nvSpPr>
          <p:spPr>
            <a:xfrm>
              <a:off x="0" y="-47625"/>
              <a:ext cx="1069703" cy="1256483"/>
            </a:xfrm>
            <a:prstGeom prst="rect">
              <a:avLst/>
            </a:prstGeom>
          </p:spPr>
          <p:txBody>
            <a:bodyPr anchor="ctr" rtlCol="false" tIns="50800" lIns="50800" bIns="50800" rIns="50800"/>
            <a:lstStyle/>
            <a:p>
              <a:pPr algn="ctr">
                <a:lnSpc>
                  <a:spcPts val="3032"/>
                </a:lnSpc>
              </a:pPr>
            </a:p>
          </p:txBody>
        </p:sp>
      </p:grpSp>
      <p:grpSp>
        <p:nvGrpSpPr>
          <p:cNvPr name="Group 6" id="6"/>
          <p:cNvGrpSpPr/>
          <p:nvPr/>
        </p:nvGrpSpPr>
        <p:grpSpPr>
          <a:xfrm rot="0">
            <a:off x="7111525" y="3949509"/>
            <a:ext cx="4061528" cy="4589884"/>
            <a:chOff x="0" y="0"/>
            <a:chExt cx="1069703" cy="1208858"/>
          </a:xfrm>
        </p:grpSpPr>
        <p:sp>
          <p:nvSpPr>
            <p:cNvPr name="Freeform 7" id="7"/>
            <p:cNvSpPr/>
            <p:nvPr/>
          </p:nvSpPr>
          <p:spPr>
            <a:xfrm flipH="false" flipV="false" rot="0">
              <a:off x="0" y="0"/>
              <a:ext cx="1069703" cy="1208858"/>
            </a:xfrm>
            <a:custGeom>
              <a:avLst/>
              <a:gdLst/>
              <a:ahLst/>
              <a:cxnLst/>
              <a:rect r="r" b="b" t="t" l="l"/>
              <a:pathLst>
                <a:path h="1208858" w="1069703">
                  <a:moveTo>
                    <a:pt x="57185" y="0"/>
                  </a:moveTo>
                  <a:lnTo>
                    <a:pt x="1012518" y="0"/>
                  </a:lnTo>
                  <a:cubicBezTo>
                    <a:pt x="1027684" y="0"/>
                    <a:pt x="1042230" y="6025"/>
                    <a:pt x="1052954" y="16749"/>
                  </a:cubicBezTo>
                  <a:cubicBezTo>
                    <a:pt x="1063678" y="27473"/>
                    <a:pt x="1069703" y="42018"/>
                    <a:pt x="1069703" y="57185"/>
                  </a:cubicBezTo>
                  <a:lnTo>
                    <a:pt x="1069703" y="1151674"/>
                  </a:lnTo>
                  <a:cubicBezTo>
                    <a:pt x="1069703" y="1183256"/>
                    <a:pt x="1044100" y="1208858"/>
                    <a:pt x="1012518" y="1208858"/>
                  </a:cubicBezTo>
                  <a:lnTo>
                    <a:pt x="57185" y="1208858"/>
                  </a:lnTo>
                  <a:cubicBezTo>
                    <a:pt x="42018" y="1208858"/>
                    <a:pt x="27473" y="1202834"/>
                    <a:pt x="16749" y="1192109"/>
                  </a:cubicBezTo>
                  <a:cubicBezTo>
                    <a:pt x="6025" y="1181385"/>
                    <a:pt x="0" y="1166840"/>
                    <a:pt x="0" y="1151674"/>
                  </a:cubicBezTo>
                  <a:lnTo>
                    <a:pt x="0" y="57185"/>
                  </a:lnTo>
                  <a:cubicBezTo>
                    <a:pt x="0" y="42018"/>
                    <a:pt x="6025" y="27473"/>
                    <a:pt x="16749" y="16749"/>
                  </a:cubicBezTo>
                  <a:cubicBezTo>
                    <a:pt x="27473" y="6025"/>
                    <a:pt x="42018" y="0"/>
                    <a:pt x="57185" y="0"/>
                  </a:cubicBezTo>
                  <a:close/>
                </a:path>
              </a:pathLst>
            </a:custGeom>
            <a:solidFill>
              <a:srgbClr val="ECE1D7"/>
            </a:solidFill>
          </p:spPr>
        </p:sp>
        <p:sp>
          <p:nvSpPr>
            <p:cNvPr name="TextBox 8" id="8"/>
            <p:cNvSpPr txBox="true"/>
            <p:nvPr/>
          </p:nvSpPr>
          <p:spPr>
            <a:xfrm>
              <a:off x="0" y="-47625"/>
              <a:ext cx="1069703" cy="1256483"/>
            </a:xfrm>
            <a:prstGeom prst="rect">
              <a:avLst/>
            </a:prstGeom>
          </p:spPr>
          <p:txBody>
            <a:bodyPr anchor="ctr" rtlCol="false" tIns="50800" lIns="50800" bIns="50800" rIns="50800"/>
            <a:lstStyle/>
            <a:p>
              <a:pPr algn="ctr">
                <a:lnSpc>
                  <a:spcPts val="3032"/>
                </a:lnSpc>
              </a:pPr>
            </a:p>
          </p:txBody>
        </p:sp>
      </p:grpSp>
      <p:grpSp>
        <p:nvGrpSpPr>
          <p:cNvPr name="Group 9" id="9"/>
          <p:cNvGrpSpPr/>
          <p:nvPr/>
        </p:nvGrpSpPr>
        <p:grpSpPr>
          <a:xfrm rot="0">
            <a:off x="11944577" y="3949509"/>
            <a:ext cx="4061528" cy="4589884"/>
            <a:chOff x="0" y="0"/>
            <a:chExt cx="1069703" cy="1208858"/>
          </a:xfrm>
        </p:grpSpPr>
        <p:sp>
          <p:nvSpPr>
            <p:cNvPr name="Freeform 10" id="10"/>
            <p:cNvSpPr/>
            <p:nvPr/>
          </p:nvSpPr>
          <p:spPr>
            <a:xfrm flipH="false" flipV="false" rot="0">
              <a:off x="0" y="0"/>
              <a:ext cx="1069703" cy="1208858"/>
            </a:xfrm>
            <a:custGeom>
              <a:avLst/>
              <a:gdLst/>
              <a:ahLst/>
              <a:cxnLst/>
              <a:rect r="r" b="b" t="t" l="l"/>
              <a:pathLst>
                <a:path h="1208858" w="1069703">
                  <a:moveTo>
                    <a:pt x="57185" y="0"/>
                  </a:moveTo>
                  <a:lnTo>
                    <a:pt x="1012518" y="0"/>
                  </a:lnTo>
                  <a:cubicBezTo>
                    <a:pt x="1027684" y="0"/>
                    <a:pt x="1042230" y="6025"/>
                    <a:pt x="1052954" y="16749"/>
                  </a:cubicBezTo>
                  <a:cubicBezTo>
                    <a:pt x="1063678" y="27473"/>
                    <a:pt x="1069703" y="42018"/>
                    <a:pt x="1069703" y="57185"/>
                  </a:cubicBezTo>
                  <a:lnTo>
                    <a:pt x="1069703" y="1151674"/>
                  </a:lnTo>
                  <a:cubicBezTo>
                    <a:pt x="1069703" y="1183256"/>
                    <a:pt x="1044100" y="1208858"/>
                    <a:pt x="1012518" y="1208858"/>
                  </a:cubicBezTo>
                  <a:lnTo>
                    <a:pt x="57185" y="1208858"/>
                  </a:lnTo>
                  <a:cubicBezTo>
                    <a:pt x="42018" y="1208858"/>
                    <a:pt x="27473" y="1202834"/>
                    <a:pt x="16749" y="1192109"/>
                  </a:cubicBezTo>
                  <a:cubicBezTo>
                    <a:pt x="6025" y="1181385"/>
                    <a:pt x="0" y="1166840"/>
                    <a:pt x="0" y="1151674"/>
                  </a:cubicBezTo>
                  <a:lnTo>
                    <a:pt x="0" y="57185"/>
                  </a:lnTo>
                  <a:cubicBezTo>
                    <a:pt x="0" y="42018"/>
                    <a:pt x="6025" y="27473"/>
                    <a:pt x="16749" y="16749"/>
                  </a:cubicBezTo>
                  <a:cubicBezTo>
                    <a:pt x="27473" y="6025"/>
                    <a:pt x="42018" y="0"/>
                    <a:pt x="57185" y="0"/>
                  </a:cubicBezTo>
                  <a:close/>
                </a:path>
              </a:pathLst>
            </a:custGeom>
            <a:solidFill>
              <a:srgbClr val="ECE1D7"/>
            </a:solidFill>
          </p:spPr>
        </p:sp>
        <p:sp>
          <p:nvSpPr>
            <p:cNvPr name="TextBox 11" id="11"/>
            <p:cNvSpPr txBox="true"/>
            <p:nvPr/>
          </p:nvSpPr>
          <p:spPr>
            <a:xfrm>
              <a:off x="0" y="-47625"/>
              <a:ext cx="1069703" cy="1256483"/>
            </a:xfrm>
            <a:prstGeom prst="rect">
              <a:avLst/>
            </a:prstGeom>
          </p:spPr>
          <p:txBody>
            <a:bodyPr anchor="ctr" rtlCol="false" tIns="50800" lIns="50800" bIns="50800" rIns="50800"/>
            <a:lstStyle/>
            <a:p>
              <a:pPr algn="ctr">
                <a:lnSpc>
                  <a:spcPts val="3032"/>
                </a:lnSpc>
              </a:pPr>
            </a:p>
          </p:txBody>
        </p:sp>
      </p:grpSp>
      <p:grpSp>
        <p:nvGrpSpPr>
          <p:cNvPr name="Group 12" id="12"/>
          <p:cNvGrpSpPr/>
          <p:nvPr/>
        </p:nvGrpSpPr>
        <p:grpSpPr>
          <a:xfrm rot="0">
            <a:off x="2281895" y="3016101"/>
            <a:ext cx="4061528" cy="1866815"/>
            <a:chOff x="0" y="0"/>
            <a:chExt cx="1069703" cy="491672"/>
          </a:xfrm>
        </p:grpSpPr>
        <p:sp>
          <p:nvSpPr>
            <p:cNvPr name="Freeform 13" id="13"/>
            <p:cNvSpPr/>
            <p:nvPr/>
          </p:nvSpPr>
          <p:spPr>
            <a:xfrm flipH="false" flipV="false" rot="0">
              <a:off x="0" y="0"/>
              <a:ext cx="1069703" cy="491672"/>
            </a:xfrm>
            <a:custGeom>
              <a:avLst/>
              <a:gdLst/>
              <a:ahLst/>
              <a:cxnLst/>
              <a:rect r="r" b="b" t="t" l="l"/>
              <a:pathLst>
                <a:path h="491672" w="1069703">
                  <a:moveTo>
                    <a:pt x="57185" y="0"/>
                  </a:moveTo>
                  <a:lnTo>
                    <a:pt x="1012518" y="0"/>
                  </a:lnTo>
                  <a:cubicBezTo>
                    <a:pt x="1027684" y="0"/>
                    <a:pt x="1042230" y="6025"/>
                    <a:pt x="1052954" y="16749"/>
                  </a:cubicBezTo>
                  <a:cubicBezTo>
                    <a:pt x="1063678" y="27473"/>
                    <a:pt x="1069703" y="42018"/>
                    <a:pt x="1069703" y="57185"/>
                  </a:cubicBezTo>
                  <a:lnTo>
                    <a:pt x="1069703" y="434487"/>
                  </a:lnTo>
                  <a:cubicBezTo>
                    <a:pt x="1069703" y="466069"/>
                    <a:pt x="1044100" y="491672"/>
                    <a:pt x="1012518" y="491672"/>
                  </a:cubicBezTo>
                  <a:lnTo>
                    <a:pt x="57185" y="491672"/>
                  </a:lnTo>
                  <a:cubicBezTo>
                    <a:pt x="42018" y="491672"/>
                    <a:pt x="27473" y="485647"/>
                    <a:pt x="16749" y="474923"/>
                  </a:cubicBezTo>
                  <a:cubicBezTo>
                    <a:pt x="6025" y="464198"/>
                    <a:pt x="0" y="449653"/>
                    <a:pt x="0" y="434487"/>
                  </a:cubicBezTo>
                  <a:lnTo>
                    <a:pt x="0" y="57185"/>
                  </a:lnTo>
                  <a:cubicBezTo>
                    <a:pt x="0" y="42018"/>
                    <a:pt x="6025" y="27473"/>
                    <a:pt x="16749" y="16749"/>
                  </a:cubicBezTo>
                  <a:cubicBezTo>
                    <a:pt x="27473" y="6025"/>
                    <a:pt x="42018" y="0"/>
                    <a:pt x="57185" y="0"/>
                  </a:cubicBezTo>
                  <a:close/>
                </a:path>
              </a:pathLst>
            </a:custGeom>
            <a:solidFill>
              <a:srgbClr val="5B7ABE"/>
            </a:solidFill>
          </p:spPr>
        </p:sp>
        <p:sp>
          <p:nvSpPr>
            <p:cNvPr name="TextBox 14" id="14"/>
            <p:cNvSpPr txBox="true"/>
            <p:nvPr/>
          </p:nvSpPr>
          <p:spPr>
            <a:xfrm>
              <a:off x="0" y="-47625"/>
              <a:ext cx="1069703" cy="539297"/>
            </a:xfrm>
            <a:prstGeom prst="rect">
              <a:avLst/>
            </a:prstGeom>
          </p:spPr>
          <p:txBody>
            <a:bodyPr anchor="ctr" rtlCol="false" tIns="50800" lIns="50800" bIns="50800" rIns="50800"/>
            <a:lstStyle/>
            <a:p>
              <a:pPr algn="ctr">
                <a:lnSpc>
                  <a:spcPts val="3032"/>
                </a:lnSpc>
              </a:pPr>
            </a:p>
          </p:txBody>
        </p:sp>
      </p:grpSp>
      <p:grpSp>
        <p:nvGrpSpPr>
          <p:cNvPr name="Group 15" id="15"/>
          <p:cNvGrpSpPr/>
          <p:nvPr/>
        </p:nvGrpSpPr>
        <p:grpSpPr>
          <a:xfrm rot="0">
            <a:off x="7111525" y="3016101"/>
            <a:ext cx="4061528" cy="1866815"/>
            <a:chOff x="0" y="0"/>
            <a:chExt cx="1069703" cy="491672"/>
          </a:xfrm>
        </p:grpSpPr>
        <p:sp>
          <p:nvSpPr>
            <p:cNvPr name="Freeform 16" id="16"/>
            <p:cNvSpPr/>
            <p:nvPr/>
          </p:nvSpPr>
          <p:spPr>
            <a:xfrm flipH="false" flipV="false" rot="0">
              <a:off x="0" y="0"/>
              <a:ext cx="1069703" cy="491672"/>
            </a:xfrm>
            <a:custGeom>
              <a:avLst/>
              <a:gdLst/>
              <a:ahLst/>
              <a:cxnLst/>
              <a:rect r="r" b="b" t="t" l="l"/>
              <a:pathLst>
                <a:path h="491672" w="1069703">
                  <a:moveTo>
                    <a:pt x="57185" y="0"/>
                  </a:moveTo>
                  <a:lnTo>
                    <a:pt x="1012518" y="0"/>
                  </a:lnTo>
                  <a:cubicBezTo>
                    <a:pt x="1027684" y="0"/>
                    <a:pt x="1042230" y="6025"/>
                    <a:pt x="1052954" y="16749"/>
                  </a:cubicBezTo>
                  <a:cubicBezTo>
                    <a:pt x="1063678" y="27473"/>
                    <a:pt x="1069703" y="42018"/>
                    <a:pt x="1069703" y="57185"/>
                  </a:cubicBezTo>
                  <a:lnTo>
                    <a:pt x="1069703" y="434487"/>
                  </a:lnTo>
                  <a:cubicBezTo>
                    <a:pt x="1069703" y="466069"/>
                    <a:pt x="1044100" y="491672"/>
                    <a:pt x="1012518" y="491672"/>
                  </a:cubicBezTo>
                  <a:lnTo>
                    <a:pt x="57185" y="491672"/>
                  </a:lnTo>
                  <a:cubicBezTo>
                    <a:pt x="42018" y="491672"/>
                    <a:pt x="27473" y="485647"/>
                    <a:pt x="16749" y="474923"/>
                  </a:cubicBezTo>
                  <a:cubicBezTo>
                    <a:pt x="6025" y="464198"/>
                    <a:pt x="0" y="449653"/>
                    <a:pt x="0" y="434487"/>
                  </a:cubicBezTo>
                  <a:lnTo>
                    <a:pt x="0" y="57185"/>
                  </a:lnTo>
                  <a:cubicBezTo>
                    <a:pt x="0" y="42018"/>
                    <a:pt x="6025" y="27473"/>
                    <a:pt x="16749" y="16749"/>
                  </a:cubicBezTo>
                  <a:cubicBezTo>
                    <a:pt x="27473" y="6025"/>
                    <a:pt x="42018" y="0"/>
                    <a:pt x="57185" y="0"/>
                  </a:cubicBezTo>
                  <a:close/>
                </a:path>
              </a:pathLst>
            </a:custGeom>
            <a:solidFill>
              <a:srgbClr val="5B7ABE"/>
            </a:solidFill>
          </p:spPr>
        </p:sp>
        <p:sp>
          <p:nvSpPr>
            <p:cNvPr name="TextBox 17" id="17"/>
            <p:cNvSpPr txBox="true"/>
            <p:nvPr/>
          </p:nvSpPr>
          <p:spPr>
            <a:xfrm>
              <a:off x="0" y="-47625"/>
              <a:ext cx="1069703" cy="539297"/>
            </a:xfrm>
            <a:prstGeom prst="rect">
              <a:avLst/>
            </a:prstGeom>
          </p:spPr>
          <p:txBody>
            <a:bodyPr anchor="ctr" rtlCol="false" tIns="50800" lIns="50800" bIns="50800" rIns="50800"/>
            <a:lstStyle/>
            <a:p>
              <a:pPr algn="ctr">
                <a:lnSpc>
                  <a:spcPts val="3032"/>
                </a:lnSpc>
              </a:pPr>
            </a:p>
          </p:txBody>
        </p:sp>
      </p:grpSp>
      <p:grpSp>
        <p:nvGrpSpPr>
          <p:cNvPr name="Group 18" id="18"/>
          <p:cNvGrpSpPr/>
          <p:nvPr/>
        </p:nvGrpSpPr>
        <p:grpSpPr>
          <a:xfrm rot="0">
            <a:off x="11944577" y="3016101"/>
            <a:ext cx="4061528" cy="1866815"/>
            <a:chOff x="0" y="0"/>
            <a:chExt cx="1069703" cy="491672"/>
          </a:xfrm>
        </p:grpSpPr>
        <p:sp>
          <p:nvSpPr>
            <p:cNvPr name="Freeform 19" id="19"/>
            <p:cNvSpPr/>
            <p:nvPr/>
          </p:nvSpPr>
          <p:spPr>
            <a:xfrm flipH="false" flipV="false" rot="0">
              <a:off x="0" y="0"/>
              <a:ext cx="1069703" cy="491672"/>
            </a:xfrm>
            <a:custGeom>
              <a:avLst/>
              <a:gdLst/>
              <a:ahLst/>
              <a:cxnLst/>
              <a:rect r="r" b="b" t="t" l="l"/>
              <a:pathLst>
                <a:path h="491672" w="1069703">
                  <a:moveTo>
                    <a:pt x="57185" y="0"/>
                  </a:moveTo>
                  <a:lnTo>
                    <a:pt x="1012518" y="0"/>
                  </a:lnTo>
                  <a:cubicBezTo>
                    <a:pt x="1027684" y="0"/>
                    <a:pt x="1042230" y="6025"/>
                    <a:pt x="1052954" y="16749"/>
                  </a:cubicBezTo>
                  <a:cubicBezTo>
                    <a:pt x="1063678" y="27473"/>
                    <a:pt x="1069703" y="42018"/>
                    <a:pt x="1069703" y="57185"/>
                  </a:cubicBezTo>
                  <a:lnTo>
                    <a:pt x="1069703" y="434487"/>
                  </a:lnTo>
                  <a:cubicBezTo>
                    <a:pt x="1069703" y="466069"/>
                    <a:pt x="1044100" y="491672"/>
                    <a:pt x="1012518" y="491672"/>
                  </a:cubicBezTo>
                  <a:lnTo>
                    <a:pt x="57185" y="491672"/>
                  </a:lnTo>
                  <a:cubicBezTo>
                    <a:pt x="42018" y="491672"/>
                    <a:pt x="27473" y="485647"/>
                    <a:pt x="16749" y="474923"/>
                  </a:cubicBezTo>
                  <a:cubicBezTo>
                    <a:pt x="6025" y="464198"/>
                    <a:pt x="0" y="449653"/>
                    <a:pt x="0" y="434487"/>
                  </a:cubicBezTo>
                  <a:lnTo>
                    <a:pt x="0" y="57185"/>
                  </a:lnTo>
                  <a:cubicBezTo>
                    <a:pt x="0" y="42018"/>
                    <a:pt x="6025" y="27473"/>
                    <a:pt x="16749" y="16749"/>
                  </a:cubicBezTo>
                  <a:cubicBezTo>
                    <a:pt x="27473" y="6025"/>
                    <a:pt x="42018" y="0"/>
                    <a:pt x="57185" y="0"/>
                  </a:cubicBezTo>
                  <a:close/>
                </a:path>
              </a:pathLst>
            </a:custGeom>
            <a:solidFill>
              <a:srgbClr val="5B7ABE"/>
            </a:solidFill>
          </p:spPr>
        </p:sp>
        <p:sp>
          <p:nvSpPr>
            <p:cNvPr name="TextBox 20" id="20"/>
            <p:cNvSpPr txBox="true"/>
            <p:nvPr/>
          </p:nvSpPr>
          <p:spPr>
            <a:xfrm>
              <a:off x="0" y="-47625"/>
              <a:ext cx="1069703" cy="539297"/>
            </a:xfrm>
            <a:prstGeom prst="rect">
              <a:avLst/>
            </a:prstGeom>
          </p:spPr>
          <p:txBody>
            <a:bodyPr anchor="ctr" rtlCol="false" tIns="50800" lIns="50800" bIns="50800" rIns="50800"/>
            <a:lstStyle/>
            <a:p>
              <a:pPr algn="ctr">
                <a:lnSpc>
                  <a:spcPts val="3032"/>
                </a:lnSpc>
              </a:pPr>
            </a:p>
          </p:txBody>
        </p:sp>
      </p:grpSp>
      <p:sp>
        <p:nvSpPr>
          <p:cNvPr name="TextBox 21" id="21"/>
          <p:cNvSpPr txBox="true"/>
          <p:nvPr/>
        </p:nvSpPr>
        <p:spPr>
          <a:xfrm rot="0">
            <a:off x="2561139" y="3522789"/>
            <a:ext cx="3503040" cy="815424"/>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Structure to Store Zombie Info</a:t>
            </a:r>
          </a:p>
        </p:txBody>
      </p:sp>
      <p:sp>
        <p:nvSpPr>
          <p:cNvPr name="TextBox 22" id="22"/>
          <p:cNvSpPr txBox="true"/>
          <p:nvPr/>
        </p:nvSpPr>
        <p:spPr>
          <a:xfrm rot="0">
            <a:off x="7555435" y="3522789"/>
            <a:ext cx="3173706" cy="815424"/>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Directions for Infection Spread</a:t>
            </a:r>
          </a:p>
        </p:txBody>
      </p:sp>
      <p:sp>
        <p:nvSpPr>
          <p:cNvPr name="TextBox 23" id="23"/>
          <p:cNvSpPr txBox="true"/>
          <p:nvPr/>
        </p:nvSpPr>
        <p:spPr>
          <a:xfrm rot="0">
            <a:off x="12388488" y="3522789"/>
            <a:ext cx="3173706" cy="815424"/>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Infection Spread Logic</a:t>
            </a:r>
          </a:p>
        </p:txBody>
      </p:sp>
      <p:sp>
        <p:nvSpPr>
          <p:cNvPr name="TextBox 24" id="24"/>
          <p:cNvSpPr txBox="true"/>
          <p:nvPr/>
        </p:nvSpPr>
        <p:spPr>
          <a:xfrm rot="0">
            <a:off x="2886027" y="5309159"/>
            <a:ext cx="2844373" cy="935292"/>
          </a:xfrm>
          <a:prstGeom prst="rect">
            <a:avLst/>
          </a:prstGeom>
        </p:spPr>
        <p:txBody>
          <a:bodyPr anchor="t" rtlCol="false" tIns="0" lIns="0" bIns="0" rIns="0">
            <a:spAutoFit/>
          </a:bodyPr>
          <a:lstStyle/>
          <a:p>
            <a:pPr algn="ctr">
              <a:lnSpc>
                <a:spcPts val="2519"/>
              </a:lnSpc>
            </a:pPr>
            <a:r>
              <a:rPr lang="en-US" sz="1799">
                <a:solidFill>
                  <a:srgbClr val="2D2261"/>
                </a:solidFill>
                <a:latin typeface="Red Hat Display"/>
                <a:ea typeface="Red Hat Display"/>
                <a:cs typeface="Red Hat Display"/>
                <a:sym typeface="Red Hat Display"/>
              </a:rPr>
              <a:t>typedef struct {</a:t>
            </a:r>
          </a:p>
          <a:p>
            <a:pPr algn="ctr">
              <a:lnSpc>
                <a:spcPts val="2519"/>
              </a:lnSpc>
            </a:pPr>
            <a:r>
              <a:rPr lang="en-US" sz="1799">
                <a:solidFill>
                  <a:srgbClr val="2D2261"/>
                </a:solidFill>
                <a:latin typeface="Red Hat Display"/>
                <a:ea typeface="Red Hat Display"/>
                <a:cs typeface="Red Hat Display"/>
                <a:sym typeface="Red Hat Display"/>
              </a:rPr>
              <a:t>    int row, col, time;</a:t>
            </a:r>
          </a:p>
          <a:p>
            <a:pPr algn="ctr">
              <a:lnSpc>
                <a:spcPts val="2519"/>
              </a:lnSpc>
            </a:pPr>
            <a:r>
              <a:rPr lang="en-US" sz="1799">
                <a:solidFill>
                  <a:srgbClr val="2D2261"/>
                </a:solidFill>
                <a:latin typeface="Red Hat Display"/>
                <a:ea typeface="Red Hat Display"/>
                <a:cs typeface="Red Hat Display"/>
                <a:sym typeface="Red Hat Display"/>
              </a:rPr>
              <a:t>}</a:t>
            </a:r>
            <a:r>
              <a:rPr lang="en-US" sz="1799">
                <a:solidFill>
                  <a:srgbClr val="2D2261"/>
                </a:solidFill>
                <a:latin typeface="Red Hat Display"/>
                <a:ea typeface="Red Hat Display"/>
                <a:cs typeface="Red Hat Display"/>
                <a:sym typeface="Red Hat Display"/>
              </a:rPr>
              <a:t> Cell;</a:t>
            </a:r>
          </a:p>
        </p:txBody>
      </p:sp>
      <p:sp>
        <p:nvSpPr>
          <p:cNvPr name="TextBox 25" id="25"/>
          <p:cNvSpPr txBox="true"/>
          <p:nvPr/>
        </p:nvSpPr>
        <p:spPr>
          <a:xfrm rot="0">
            <a:off x="7720102" y="5471185"/>
            <a:ext cx="2887111" cy="935292"/>
          </a:xfrm>
          <a:prstGeom prst="rect">
            <a:avLst/>
          </a:prstGeom>
        </p:spPr>
        <p:txBody>
          <a:bodyPr anchor="t" rtlCol="false" tIns="0" lIns="0" bIns="0" rIns="0">
            <a:spAutoFit/>
          </a:bodyPr>
          <a:lstStyle/>
          <a:p>
            <a:pPr algn="ctr">
              <a:lnSpc>
                <a:spcPts val="2519"/>
              </a:lnSpc>
            </a:pPr>
            <a:r>
              <a:rPr lang="en-US" sz="1799">
                <a:solidFill>
                  <a:srgbClr val="2D2261"/>
                </a:solidFill>
                <a:latin typeface="Red Hat Display"/>
                <a:ea typeface="Red Hat Display"/>
                <a:cs typeface="Red Hat Display"/>
                <a:sym typeface="Red Hat Display"/>
              </a:rPr>
              <a:t>int directions[4][2] = {</a:t>
            </a:r>
          </a:p>
          <a:p>
            <a:pPr algn="ctr">
              <a:lnSpc>
                <a:spcPts val="2519"/>
              </a:lnSpc>
            </a:pPr>
            <a:r>
              <a:rPr lang="en-US" sz="1799">
                <a:solidFill>
                  <a:srgbClr val="2D2261"/>
                </a:solidFill>
                <a:latin typeface="Red Hat Display"/>
                <a:ea typeface="Red Hat Display"/>
                <a:cs typeface="Red Hat Display"/>
                <a:sym typeface="Red Hat Display"/>
              </a:rPr>
              <a:t>    {-1, 0}, {1, 0},</a:t>
            </a:r>
            <a:r>
              <a:rPr lang="en-US" sz="1799">
                <a:solidFill>
                  <a:srgbClr val="2D2261"/>
                </a:solidFill>
                <a:latin typeface="Red Hat Display"/>
                <a:ea typeface="Red Hat Display"/>
                <a:cs typeface="Red Hat Display"/>
                <a:sym typeface="Red Hat Display"/>
              </a:rPr>
              <a:t> {0, -1}, {0, 1}</a:t>
            </a:r>
          </a:p>
          <a:p>
            <a:pPr algn="ctr">
              <a:lnSpc>
                <a:spcPts val="2519"/>
              </a:lnSpc>
            </a:pPr>
            <a:r>
              <a:rPr lang="en-US" sz="1799">
                <a:solidFill>
                  <a:srgbClr val="2D2261"/>
                </a:solidFill>
                <a:latin typeface="Red Hat Display"/>
                <a:ea typeface="Red Hat Display"/>
                <a:cs typeface="Red Hat Display"/>
                <a:sym typeface="Red Hat Display"/>
              </a:rPr>
              <a:t>};</a:t>
            </a:r>
          </a:p>
        </p:txBody>
      </p:sp>
      <p:sp>
        <p:nvSpPr>
          <p:cNvPr name="Freeform 26" id="26"/>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27" id="27"/>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0" id="30"/>
          <p:cNvSpPr txBox="true"/>
          <p:nvPr/>
        </p:nvSpPr>
        <p:spPr>
          <a:xfrm rot="0">
            <a:off x="2704216" y="6548463"/>
            <a:ext cx="3216886" cy="935292"/>
          </a:xfrm>
          <a:prstGeom prst="rect">
            <a:avLst/>
          </a:prstGeom>
        </p:spPr>
        <p:txBody>
          <a:bodyPr anchor="t" rtlCol="false" tIns="0" lIns="0" bIns="0" rIns="0">
            <a:spAutoFit/>
          </a:bodyPr>
          <a:lstStyle/>
          <a:p>
            <a:pPr algn="ctr">
              <a:lnSpc>
                <a:spcPts val="2519"/>
              </a:lnSpc>
            </a:pPr>
            <a:r>
              <a:rPr lang="en-US" sz="1799">
                <a:solidFill>
                  <a:srgbClr val="2D2261"/>
                </a:solidFill>
                <a:latin typeface="Red Hat Display"/>
                <a:ea typeface="Red Hat Display"/>
                <a:cs typeface="Red Hat Display"/>
                <a:sym typeface="Red Hat Display"/>
              </a:rPr>
              <a:t>Each zombie’s position and time since infection is stored.</a:t>
            </a:r>
          </a:p>
          <a:p>
            <a:pPr algn="ctr">
              <a:lnSpc>
                <a:spcPts val="2519"/>
              </a:lnSpc>
            </a:pPr>
          </a:p>
        </p:txBody>
      </p:sp>
      <p:sp>
        <p:nvSpPr>
          <p:cNvPr name="TextBox 31" id="31"/>
          <p:cNvSpPr txBox="true"/>
          <p:nvPr/>
        </p:nvSpPr>
        <p:spPr>
          <a:xfrm rot="0">
            <a:off x="7498147" y="6548463"/>
            <a:ext cx="3331022" cy="620988"/>
          </a:xfrm>
          <a:prstGeom prst="rect">
            <a:avLst/>
          </a:prstGeom>
        </p:spPr>
        <p:txBody>
          <a:bodyPr anchor="t" rtlCol="false" tIns="0" lIns="0" bIns="0" rIns="0">
            <a:spAutoFit/>
          </a:bodyPr>
          <a:lstStyle/>
          <a:p>
            <a:pPr algn="ctr">
              <a:lnSpc>
                <a:spcPts val="2519"/>
              </a:lnSpc>
            </a:pPr>
            <a:r>
              <a:rPr lang="en-US" sz="1799">
                <a:solidFill>
                  <a:srgbClr val="2D2261"/>
                </a:solidFill>
                <a:latin typeface="Red Hat Display"/>
                <a:ea typeface="Red Hat Display"/>
                <a:cs typeface="Red Hat Display"/>
                <a:sym typeface="Red Hat Display"/>
              </a:rPr>
              <a:t>Used to infect up, down, left, right neighbors.</a:t>
            </a:r>
          </a:p>
        </p:txBody>
      </p:sp>
      <p:sp>
        <p:nvSpPr>
          <p:cNvPr name="TextBox 32" id="32"/>
          <p:cNvSpPr txBox="true"/>
          <p:nvPr/>
        </p:nvSpPr>
        <p:spPr>
          <a:xfrm rot="0">
            <a:off x="12166533" y="5471185"/>
            <a:ext cx="3617617" cy="1249596"/>
          </a:xfrm>
          <a:prstGeom prst="rect">
            <a:avLst/>
          </a:prstGeom>
        </p:spPr>
        <p:txBody>
          <a:bodyPr anchor="t" rtlCol="false" tIns="0" lIns="0" bIns="0" rIns="0">
            <a:spAutoFit/>
          </a:bodyPr>
          <a:lstStyle/>
          <a:p>
            <a:pPr algn="ctr">
              <a:lnSpc>
                <a:spcPts val="2519"/>
              </a:lnSpc>
            </a:pPr>
            <a:r>
              <a:rPr lang="en-US" sz="1799">
                <a:solidFill>
                  <a:srgbClr val="2D2261"/>
                </a:solidFill>
                <a:latin typeface="Red Hat Display"/>
                <a:ea typeface="Red Hat Display"/>
                <a:cs typeface="Red Hat Display"/>
                <a:sym typeface="Red Hat Display"/>
              </a:rPr>
              <a:t>if (grid[x][y] == 0) {</a:t>
            </a:r>
          </a:p>
          <a:p>
            <a:pPr algn="ctr">
              <a:lnSpc>
                <a:spcPts val="2519"/>
              </a:lnSpc>
            </a:pPr>
            <a:r>
              <a:rPr lang="en-US" sz="1799">
                <a:solidFill>
                  <a:srgbClr val="2D2261"/>
                </a:solidFill>
                <a:latin typeface="Red Hat Display"/>
                <a:ea typeface="Red Hat Display"/>
                <a:cs typeface="Red Hat Display"/>
                <a:sym typeface="Red Hat Display"/>
              </a:rPr>
              <a:t>    grid[x][y] = 1;</a:t>
            </a:r>
          </a:p>
          <a:p>
            <a:pPr algn="ctr">
              <a:lnSpc>
                <a:spcPts val="2519"/>
              </a:lnSpc>
            </a:pPr>
            <a:r>
              <a:rPr lang="en-US" sz="1799">
                <a:solidFill>
                  <a:srgbClr val="2D2261"/>
                </a:solidFill>
                <a:latin typeface="Red Hat Display"/>
                <a:ea typeface="Red Hat Display"/>
                <a:cs typeface="Red Hat Display"/>
                <a:sym typeface="Red Hat Display"/>
              </a:rPr>
              <a:t>    enqueue(&amp;q, (Cell){x, y, time + 1});</a:t>
            </a:r>
          </a:p>
          <a:p>
            <a:pPr algn="ctr">
              <a:lnSpc>
                <a:spcPts val="2519"/>
              </a:lnSpc>
            </a:pPr>
            <a:r>
              <a:rPr lang="en-US" sz="1799">
                <a:solidFill>
                  <a:srgbClr val="2D2261"/>
                </a:solidFill>
                <a:latin typeface="Red Hat Display"/>
                <a:ea typeface="Red Hat Display"/>
                <a:cs typeface="Red Hat Display"/>
                <a:sym typeface="Red Hat Display"/>
              </a:rPr>
              <a:t>}</a:t>
            </a:r>
          </a:p>
        </p:txBody>
      </p:sp>
      <p:sp>
        <p:nvSpPr>
          <p:cNvPr name="TextBox 33" id="33"/>
          <p:cNvSpPr txBox="true"/>
          <p:nvPr/>
        </p:nvSpPr>
        <p:spPr>
          <a:xfrm rot="0">
            <a:off x="12238182" y="6839907"/>
            <a:ext cx="3474319" cy="1563900"/>
          </a:xfrm>
          <a:prstGeom prst="rect">
            <a:avLst/>
          </a:prstGeom>
        </p:spPr>
        <p:txBody>
          <a:bodyPr anchor="t" rtlCol="false" tIns="0" lIns="0" bIns="0" rIns="0">
            <a:spAutoFit/>
          </a:bodyPr>
          <a:lstStyle/>
          <a:p>
            <a:pPr algn="ctr">
              <a:lnSpc>
                <a:spcPts val="2519"/>
              </a:lnSpc>
            </a:pPr>
            <a:r>
              <a:rPr lang="en-US" sz="1799">
                <a:solidFill>
                  <a:srgbClr val="2D2261"/>
                </a:solidFill>
                <a:latin typeface="Red Hat Display"/>
                <a:ea typeface="Red Hat Display"/>
                <a:cs typeface="Red Hat Display"/>
                <a:sym typeface="Red Hat Display"/>
              </a:rPr>
              <a:t>Spreads infection to all valid neighboring safe zones.</a:t>
            </a:r>
          </a:p>
          <a:p>
            <a:pPr algn="ctr">
              <a:lnSpc>
                <a:spcPts val="2519"/>
              </a:lnSpc>
            </a:pPr>
            <a:r>
              <a:rPr lang="en-US" sz="1799">
                <a:solidFill>
                  <a:srgbClr val="2D2261"/>
                </a:solidFill>
                <a:latin typeface="Red Hat Display"/>
                <a:ea typeface="Red Hat Display"/>
                <a:cs typeface="Red Hat Display"/>
                <a:sym typeface="Red Hat Display"/>
              </a:rPr>
              <a:t>Uses queue to process each infected cell in order.</a:t>
            </a:r>
          </a:p>
          <a:p>
            <a:pPr algn="ctr">
              <a:lnSpc>
                <a:spcPts val="2519"/>
              </a:lnSpc>
            </a:pP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CF1F4"/>
        </a:solidFill>
      </p:bgPr>
    </p:bg>
    <p:spTree>
      <p:nvGrpSpPr>
        <p:cNvPr id="1" name=""/>
        <p:cNvGrpSpPr/>
        <p:nvPr/>
      </p:nvGrpSpPr>
      <p:grpSpPr>
        <a:xfrm>
          <a:off x="0" y="0"/>
          <a:ext cx="0" cy="0"/>
          <a:chOff x="0" y="0"/>
          <a:chExt cx="0" cy="0"/>
        </a:xfrm>
      </p:grpSpPr>
      <p:sp>
        <p:nvSpPr>
          <p:cNvPr name="Freeform 2" id="2"/>
          <p:cNvSpPr/>
          <p:nvPr/>
        </p:nvSpPr>
        <p:spPr>
          <a:xfrm flipH="false" flipV="false" rot="-438575">
            <a:off x="14308172" y="4133711"/>
            <a:ext cx="4640183" cy="6992057"/>
          </a:xfrm>
          <a:custGeom>
            <a:avLst/>
            <a:gdLst/>
            <a:ahLst/>
            <a:cxnLst/>
            <a:rect r="r" b="b" t="t" l="l"/>
            <a:pathLst>
              <a:path h="6992057" w="4640183">
                <a:moveTo>
                  <a:pt x="0" y="0"/>
                </a:moveTo>
                <a:lnTo>
                  <a:pt x="4640183" y="0"/>
                </a:lnTo>
                <a:lnTo>
                  <a:pt x="4640183" y="6992057"/>
                </a:lnTo>
                <a:lnTo>
                  <a:pt x="0" y="69920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409785">
            <a:off x="8901699" y="8868625"/>
            <a:ext cx="7315200" cy="1689146"/>
          </a:xfrm>
          <a:custGeom>
            <a:avLst/>
            <a:gdLst/>
            <a:ahLst/>
            <a:cxnLst/>
            <a:rect r="r" b="b" t="t" l="l"/>
            <a:pathLst>
              <a:path h="1689146" w="7315200">
                <a:moveTo>
                  <a:pt x="7315200" y="1689146"/>
                </a:moveTo>
                <a:lnTo>
                  <a:pt x="0" y="1689146"/>
                </a:lnTo>
                <a:lnTo>
                  <a:pt x="0" y="0"/>
                </a:lnTo>
                <a:lnTo>
                  <a:pt x="7315200" y="0"/>
                </a:lnTo>
                <a:lnTo>
                  <a:pt x="7315200" y="168914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884797" y="-897736"/>
            <a:ext cx="6251967" cy="4365010"/>
          </a:xfrm>
          <a:custGeom>
            <a:avLst/>
            <a:gdLst/>
            <a:ahLst/>
            <a:cxnLst/>
            <a:rect r="r" b="b" t="t" l="l"/>
            <a:pathLst>
              <a:path h="4365010" w="6251967">
                <a:moveTo>
                  <a:pt x="0" y="0"/>
                </a:moveTo>
                <a:lnTo>
                  <a:pt x="6251967" y="0"/>
                </a:lnTo>
                <a:lnTo>
                  <a:pt x="6251967" y="4365010"/>
                </a:lnTo>
                <a:lnTo>
                  <a:pt x="0" y="43650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5" id="5"/>
          <p:cNvSpPr/>
          <p:nvPr/>
        </p:nvSpPr>
        <p:spPr>
          <a:xfrm>
            <a:off x="2207532" y="2563234"/>
            <a:ext cx="13239372" cy="0"/>
          </a:xfrm>
          <a:prstGeom prst="line">
            <a:avLst/>
          </a:prstGeom>
          <a:ln cap="flat" w="38100">
            <a:solidFill>
              <a:srgbClr val="06434B"/>
            </a:solidFill>
            <a:prstDash val="solid"/>
            <a:headEnd type="none" len="sm" w="sm"/>
            <a:tailEnd type="none" len="sm" w="sm"/>
          </a:ln>
        </p:spPr>
      </p:sp>
      <p:sp>
        <p:nvSpPr>
          <p:cNvPr name="Freeform 6" id="6"/>
          <p:cNvSpPr/>
          <p:nvPr/>
        </p:nvSpPr>
        <p:spPr>
          <a:xfrm flipH="false" flipV="false" rot="0">
            <a:off x="834317" y="4552698"/>
            <a:ext cx="7992901" cy="4271780"/>
          </a:xfrm>
          <a:custGeom>
            <a:avLst/>
            <a:gdLst/>
            <a:ahLst/>
            <a:cxnLst/>
            <a:rect r="r" b="b" t="t" l="l"/>
            <a:pathLst>
              <a:path h="4271780" w="7992901">
                <a:moveTo>
                  <a:pt x="0" y="0"/>
                </a:moveTo>
                <a:lnTo>
                  <a:pt x="7992901" y="0"/>
                </a:lnTo>
                <a:lnTo>
                  <a:pt x="7992901" y="4271780"/>
                </a:lnTo>
                <a:lnTo>
                  <a:pt x="0" y="4271780"/>
                </a:lnTo>
                <a:lnTo>
                  <a:pt x="0" y="0"/>
                </a:lnTo>
                <a:close/>
              </a:path>
            </a:pathLst>
          </a:custGeom>
          <a:blipFill>
            <a:blip r:embed="rId8"/>
            <a:stretch>
              <a:fillRect l="0" t="0" r="0" b="0"/>
            </a:stretch>
          </a:blipFill>
        </p:spPr>
      </p:sp>
      <p:sp>
        <p:nvSpPr>
          <p:cNvPr name="Freeform 7" id="7"/>
          <p:cNvSpPr/>
          <p:nvPr/>
        </p:nvSpPr>
        <p:spPr>
          <a:xfrm flipH="false" flipV="false" rot="0">
            <a:off x="9499272" y="4552698"/>
            <a:ext cx="7992901" cy="4271780"/>
          </a:xfrm>
          <a:custGeom>
            <a:avLst/>
            <a:gdLst/>
            <a:ahLst/>
            <a:cxnLst/>
            <a:rect r="r" b="b" t="t" l="l"/>
            <a:pathLst>
              <a:path h="4271780" w="7992901">
                <a:moveTo>
                  <a:pt x="0" y="0"/>
                </a:moveTo>
                <a:lnTo>
                  <a:pt x="7992902" y="0"/>
                </a:lnTo>
                <a:lnTo>
                  <a:pt x="7992902" y="4271780"/>
                </a:lnTo>
                <a:lnTo>
                  <a:pt x="0" y="4271780"/>
                </a:lnTo>
                <a:lnTo>
                  <a:pt x="0" y="0"/>
                </a:lnTo>
                <a:close/>
              </a:path>
            </a:pathLst>
          </a:custGeom>
          <a:blipFill>
            <a:blip r:embed="rId9"/>
            <a:stretch>
              <a:fillRect l="0" t="0" r="0" b="0"/>
            </a:stretch>
          </a:blipFill>
        </p:spPr>
      </p:sp>
      <p:sp>
        <p:nvSpPr>
          <p:cNvPr name="TextBox 8" id="8"/>
          <p:cNvSpPr txBox="true"/>
          <p:nvPr/>
        </p:nvSpPr>
        <p:spPr>
          <a:xfrm rot="0">
            <a:off x="1028700" y="836075"/>
            <a:ext cx="16230600" cy="1708108"/>
          </a:xfrm>
          <a:prstGeom prst="rect">
            <a:avLst/>
          </a:prstGeom>
        </p:spPr>
        <p:txBody>
          <a:bodyPr anchor="t" rtlCol="false" tIns="0" lIns="0" bIns="0" rIns="0">
            <a:spAutoFit/>
          </a:bodyPr>
          <a:lstStyle/>
          <a:p>
            <a:pPr algn="ctr">
              <a:lnSpc>
                <a:spcPts val="13999"/>
              </a:lnSpc>
            </a:pPr>
            <a:r>
              <a:rPr lang="en-US" sz="9999">
                <a:solidFill>
                  <a:srgbClr val="06434B"/>
                </a:solidFill>
                <a:latin typeface="Squada One"/>
                <a:ea typeface="Squada One"/>
                <a:cs typeface="Squada One"/>
                <a:sym typeface="Squada One"/>
              </a:rPr>
              <a:t>SAMPLE INPUT &amp; OUTPUT</a:t>
            </a:r>
          </a:p>
        </p:txBody>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10078075" y="1267971"/>
            <a:ext cx="4208573" cy="4247184"/>
          </a:xfrm>
          <a:custGeom>
            <a:avLst/>
            <a:gdLst/>
            <a:ahLst/>
            <a:cxnLst/>
            <a:rect r="r" b="b" t="t" l="l"/>
            <a:pathLst>
              <a:path h="4247184" w="4208573">
                <a:moveTo>
                  <a:pt x="0" y="0"/>
                </a:moveTo>
                <a:lnTo>
                  <a:pt x="4208574" y="0"/>
                </a:lnTo>
                <a:lnTo>
                  <a:pt x="4208574" y="4247184"/>
                </a:lnTo>
                <a:lnTo>
                  <a:pt x="0" y="42471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0857087" y="1879538"/>
            <a:ext cx="5956731" cy="6527925"/>
          </a:xfrm>
          <a:custGeom>
            <a:avLst/>
            <a:gdLst/>
            <a:ahLst/>
            <a:cxnLst/>
            <a:rect r="r" b="b" t="t" l="l"/>
            <a:pathLst>
              <a:path h="6527925" w="5956731">
                <a:moveTo>
                  <a:pt x="0" y="0"/>
                </a:moveTo>
                <a:lnTo>
                  <a:pt x="5956731" y="0"/>
                </a:lnTo>
                <a:lnTo>
                  <a:pt x="5956731" y="6527924"/>
                </a:lnTo>
                <a:lnTo>
                  <a:pt x="0" y="65279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408790" y="1219200"/>
            <a:ext cx="8092094" cy="1177248"/>
          </a:xfrm>
          <a:prstGeom prst="rect">
            <a:avLst/>
          </a:prstGeom>
        </p:spPr>
        <p:txBody>
          <a:bodyPr anchor="t" rtlCol="false" tIns="0" lIns="0" bIns="0" rIns="0">
            <a:spAutoFit/>
          </a:bodyPr>
          <a:lstStyle/>
          <a:p>
            <a:pPr algn="l">
              <a:lnSpc>
                <a:spcPts val="8730"/>
              </a:lnSpc>
            </a:pPr>
            <a:r>
              <a:rPr lang="en-US" sz="9000" b="true">
                <a:solidFill>
                  <a:srgbClr val="000000"/>
                </a:solidFill>
                <a:latin typeface="DM Sans Bold"/>
                <a:ea typeface="DM Sans Bold"/>
                <a:cs typeface="DM Sans Bold"/>
                <a:sym typeface="DM Sans Bold"/>
              </a:rPr>
              <a:t>Features</a:t>
            </a:r>
          </a:p>
        </p:txBody>
      </p:sp>
      <p:sp>
        <p:nvSpPr>
          <p:cNvPr name="TextBox 5" id="5"/>
          <p:cNvSpPr txBox="true"/>
          <p:nvPr/>
        </p:nvSpPr>
        <p:spPr>
          <a:xfrm rot="0">
            <a:off x="1028700" y="2801355"/>
            <a:ext cx="9049375" cy="6326068"/>
          </a:xfrm>
          <a:prstGeom prst="rect">
            <a:avLst/>
          </a:prstGeom>
        </p:spPr>
        <p:txBody>
          <a:bodyPr anchor="t" rtlCol="false" tIns="0" lIns="0" bIns="0" rIns="0">
            <a:spAutoFit/>
          </a:bodyPr>
          <a:lstStyle/>
          <a:p>
            <a:pPr algn="just">
              <a:lnSpc>
                <a:spcPts val="4092"/>
              </a:lnSpc>
              <a:spcBef>
                <a:spcPct val="0"/>
              </a:spcBef>
            </a:pPr>
            <a:r>
              <a:rPr lang="en-US" b="true" sz="3031" spc="181">
                <a:solidFill>
                  <a:srgbClr val="000000"/>
                </a:solidFill>
                <a:latin typeface="DM Sans Bold"/>
                <a:ea typeface="DM Sans Bold"/>
                <a:cs typeface="DM Sans Bold"/>
                <a:sym typeface="DM Sans Bold"/>
              </a:rPr>
              <a:t>Dyna</a:t>
            </a:r>
            <a:r>
              <a:rPr lang="en-US" b="true" sz="3031" spc="181" u="none">
                <a:solidFill>
                  <a:srgbClr val="000000"/>
                </a:solidFill>
                <a:latin typeface="DM Sans Bold"/>
                <a:ea typeface="DM Sans Bold"/>
                <a:cs typeface="DM Sans Bold"/>
                <a:sym typeface="DM Sans Bold"/>
              </a:rPr>
              <a:t>mic infection simulation</a:t>
            </a:r>
          </a:p>
          <a:p>
            <a:pPr algn="just">
              <a:lnSpc>
                <a:spcPts val="3822"/>
              </a:lnSpc>
              <a:spcBef>
                <a:spcPct val="0"/>
              </a:spcBef>
            </a:pPr>
            <a:r>
              <a:rPr lang="en-US" sz="2831" spc="169" u="none">
                <a:solidFill>
                  <a:srgbClr val="000000"/>
                </a:solidFill>
                <a:latin typeface="DM Sans"/>
                <a:ea typeface="DM Sans"/>
                <a:cs typeface="DM Sans"/>
                <a:sym typeface="DM Sans"/>
              </a:rPr>
              <a:t>Models the spread of infection in real-time  across the grid.</a:t>
            </a:r>
          </a:p>
          <a:p>
            <a:pPr algn="just">
              <a:lnSpc>
                <a:spcPts val="4092"/>
              </a:lnSpc>
              <a:spcBef>
                <a:spcPct val="0"/>
              </a:spcBef>
            </a:pPr>
            <a:r>
              <a:rPr lang="en-US" b="true" sz="3031" spc="181" u="none">
                <a:solidFill>
                  <a:srgbClr val="000000"/>
                </a:solidFill>
                <a:latin typeface="DM Sans Bold"/>
                <a:ea typeface="DM Sans Bold"/>
                <a:cs typeface="DM Sans Bold"/>
                <a:sym typeface="DM Sans Bold"/>
              </a:rPr>
              <a:t>Easy to test with different grid sizes</a:t>
            </a:r>
          </a:p>
          <a:p>
            <a:pPr algn="just">
              <a:lnSpc>
                <a:spcPts val="3822"/>
              </a:lnSpc>
              <a:spcBef>
                <a:spcPct val="0"/>
              </a:spcBef>
            </a:pPr>
            <a:r>
              <a:rPr lang="en-US" sz="2831" spc="169" u="none">
                <a:solidFill>
                  <a:srgbClr val="000000"/>
                </a:solidFill>
                <a:latin typeface="DM Sans"/>
                <a:ea typeface="DM Sans"/>
                <a:cs typeface="DM Sans"/>
                <a:sym typeface="DM Sans"/>
              </a:rPr>
              <a:t>Adaptable to various grid dimensions for flexible experimentation.</a:t>
            </a:r>
          </a:p>
          <a:p>
            <a:pPr algn="just">
              <a:lnSpc>
                <a:spcPts val="4092"/>
              </a:lnSpc>
              <a:spcBef>
                <a:spcPct val="0"/>
              </a:spcBef>
            </a:pPr>
            <a:r>
              <a:rPr lang="en-US" b="true" sz="3031" spc="181" u="none">
                <a:solidFill>
                  <a:srgbClr val="000000"/>
                </a:solidFill>
                <a:latin typeface="DM Sans Bold"/>
                <a:ea typeface="DM Sans Bold"/>
                <a:cs typeface="DM Sans Bold"/>
                <a:sym typeface="DM Sans Bold"/>
              </a:rPr>
              <a:t>Accurate BFS-style spread</a:t>
            </a:r>
          </a:p>
          <a:p>
            <a:pPr algn="just">
              <a:lnSpc>
                <a:spcPts val="3822"/>
              </a:lnSpc>
              <a:spcBef>
                <a:spcPct val="0"/>
              </a:spcBef>
            </a:pPr>
            <a:r>
              <a:rPr lang="en-US" sz="2831" spc="169" u="none">
                <a:solidFill>
                  <a:srgbClr val="000000"/>
                </a:solidFill>
                <a:latin typeface="DM Sans"/>
                <a:ea typeface="DM Sans"/>
                <a:cs typeface="DM Sans"/>
                <a:sym typeface="DM Sans"/>
              </a:rPr>
              <a:t>Utilizes Breadth-First Search algorithm to simulate realistic infection propagation.</a:t>
            </a:r>
          </a:p>
          <a:p>
            <a:pPr algn="just">
              <a:lnSpc>
                <a:spcPts val="4092"/>
              </a:lnSpc>
              <a:spcBef>
                <a:spcPct val="0"/>
              </a:spcBef>
            </a:pPr>
            <a:r>
              <a:rPr lang="en-US" b="true" sz="3031" spc="181" u="none">
                <a:solidFill>
                  <a:srgbClr val="000000"/>
                </a:solidFill>
                <a:latin typeface="DM Sans Bold"/>
                <a:ea typeface="DM Sans Bold"/>
                <a:cs typeface="DM Sans Bold"/>
                <a:sym typeface="DM Sans Bold"/>
              </a:rPr>
              <a:t>Realistic zombie outbreak behavior</a:t>
            </a:r>
          </a:p>
          <a:p>
            <a:pPr algn="just">
              <a:lnSpc>
                <a:spcPts val="3822"/>
              </a:lnSpc>
              <a:spcBef>
                <a:spcPct val="0"/>
              </a:spcBef>
            </a:pPr>
            <a:r>
              <a:rPr lang="en-US" sz="2831" spc="169" u="none">
                <a:solidFill>
                  <a:srgbClr val="000000"/>
                </a:solidFill>
                <a:latin typeface="DM Sans"/>
                <a:ea typeface="DM Sans"/>
                <a:cs typeface="DM Sans"/>
                <a:sym typeface="DM Sans"/>
              </a:rPr>
              <a:t>Captures detailed and believable patterns of outbreak dynamics.</a:t>
            </a:r>
          </a:p>
          <a:p>
            <a:pPr algn="just" marL="0" indent="0" lvl="0">
              <a:lnSpc>
                <a:spcPts val="3822"/>
              </a:lnSpc>
              <a:spcBef>
                <a:spcPct val="0"/>
              </a:spcBef>
            </a:pPr>
          </a:p>
        </p:txBody>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10819907" y="1950456"/>
            <a:ext cx="4208573" cy="4247184"/>
          </a:xfrm>
          <a:custGeom>
            <a:avLst/>
            <a:gdLst/>
            <a:ahLst/>
            <a:cxnLst/>
            <a:rect r="r" b="b" t="t" l="l"/>
            <a:pathLst>
              <a:path h="4247184" w="4208573">
                <a:moveTo>
                  <a:pt x="0" y="0"/>
                </a:moveTo>
                <a:lnTo>
                  <a:pt x="4208573" y="0"/>
                </a:lnTo>
                <a:lnTo>
                  <a:pt x="4208573" y="4247184"/>
                </a:lnTo>
                <a:lnTo>
                  <a:pt x="0" y="42471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0256115" y="2639048"/>
            <a:ext cx="7181225" cy="5008904"/>
          </a:xfrm>
          <a:custGeom>
            <a:avLst/>
            <a:gdLst/>
            <a:ahLst/>
            <a:cxnLst/>
            <a:rect r="r" b="b" t="t" l="l"/>
            <a:pathLst>
              <a:path h="5008904" w="7181225">
                <a:moveTo>
                  <a:pt x="0" y="0"/>
                </a:moveTo>
                <a:lnTo>
                  <a:pt x="7181225" y="0"/>
                </a:lnTo>
                <a:lnTo>
                  <a:pt x="7181225" y="5008904"/>
                </a:lnTo>
                <a:lnTo>
                  <a:pt x="0" y="50089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1219200"/>
            <a:ext cx="8751165" cy="1177248"/>
          </a:xfrm>
          <a:prstGeom prst="rect">
            <a:avLst/>
          </a:prstGeom>
        </p:spPr>
        <p:txBody>
          <a:bodyPr anchor="t" rtlCol="false" tIns="0" lIns="0" bIns="0" rIns="0">
            <a:spAutoFit/>
          </a:bodyPr>
          <a:lstStyle/>
          <a:p>
            <a:pPr algn="l">
              <a:lnSpc>
                <a:spcPts val="8730"/>
              </a:lnSpc>
            </a:pPr>
            <a:r>
              <a:rPr lang="en-US" sz="9000" b="true">
                <a:solidFill>
                  <a:srgbClr val="000000"/>
                </a:solidFill>
                <a:latin typeface="DM Sans Bold"/>
                <a:ea typeface="DM Sans Bold"/>
                <a:cs typeface="DM Sans Bold"/>
                <a:sym typeface="DM Sans Bold"/>
              </a:rPr>
              <a:t>Limitations</a:t>
            </a:r>
          </a:p>
        </p:txBody>
      </p:sp>
      <p:sp>
        <p:nvSpPr>
          <p:cNvPr name="TextBox 5" id="5"/>
          <p:cNvSpPr txBox="true"/>
          <p:nvPr/>
        </p:nvSpPr>
        <p:spPr>
          <a:xfrm rot="0">
            <a:off x="1028700" y="2629523"/>
            <a:ext cx="9780342" cy="6820216"/>
          </a:xfrm>
          <a:prstGeom prst="rect">
            <a:avLst/>
          </a:prstGeom>
        </p:spPr>
        <p:txBody>
          <a:bodyPr anchor="t" rtlCol="false" tIns="0" lIns="0" bIns="0" rIns="0">
            <a:spAutoFit/>
          </a:bodyPr>
          <a:lstStyle/>
          <a:p>
            <a:pPr algn="l">
              <a:lnSpc>
                <a:spcPts val="3010"/>
              </a:lnSpc>
            </a:pPr>
            <a:r>
              <a:rPr lang="en-US" b="true" sz="2508" spc="150">
                <a:solidFill>
                  <a:srgbClr val="000000"/>
                </a:solidFill>
                <a:latin typeface="DM Sans Bold"/>
                <a:ea typeface="DM Sans Bold"/>
                <a:cs typeface="DM Sans Bold"/>
                <a:sym typeface="DM Sans Bold"/>
              </a:rPr>
              <a:t>N</a:t>
            </a:r>
            <a:r>
              <a:rPr lang="en-US" b="true" sz="2508" spc="150" u="none">
                <a:solidFill>
                  <a:srgbClr val="000000"/>
                </a:solidFill>
                <a:latin typeface="DM Sans Bold"/>
                <a:ea typeface="DM Sans Bold"/>
                <a:cs typeface="DM Sans Bold"/>
                <a:sym typeface="DM Sans Bold"/>
              </a:rPr>
              <a:t>o simultaneous multi-direction infection:</a:t>
            </a:r>
          </a:p>
          <a:p>
            <a:pPr algn="l">
              <a:lnSpc>
                <a:spcPts val="2787"/>
              </a:lnSpc>
            </a:pPr>
            <a:r>
              <a:rPr lang="en-US" sz="2322" spc="139" u="none">
                <a:solidFill>
                  <a:srgbClr val="000000"/>
                </a:solidFill>
                <a:latin typeface="DM Sans"/>
                <a:ea typeface="DM Sans"/>
                <a:cs typeface="DM Sans"/>
                <a:sym typeface="DM Sans"/>
              </a:rPr>
              <a:t> The model does not handle cases where multiple zombies infect neighbors from different directions at the exact same time in real-time scenarios.</a:t>
            </a:r>
          </a:p>
          <a:p>
            <a:pPr algn="l">
              <a:lnSpc>
                <a:spcPts val="2787"/>
              </a:lnSpc>
            </a:pPr>
          </a:p>
          <a:p>
            <a:pPr algn="l">
              <a:lnSpc>
                <a:spcPts val="3010"/>
              </a:lnSpc>
            </a:pPr>
            <a:r>
              <a:rPr lang="en-US" b="true" sz="2508" spc="150" u="none">
                <a:solidFill>
                  <a:srgbClr val="000000"/>
                </a:solidFill>
                <a:latin typeface="DM Sans Bold"/>
                <a:ea typeface="DM Sans Bold"/>
                <a:cs typeface="DM Sans Bold"/>
                <a:sym typeface="DM Sans Bold"/>
              </a:rPr>
              <a:t>No cure or recovery:</a:t>
            </a:r>
          </a:p>
          <a:p>
            <a:pPr algn="l">
              <a:lnSpc>
                <a:spcPts val="2787"/>
              </a:lnSpc>
            </a:pPr>
            <a:r>
              <a:rPr lang="en-US" sz="2322" spc="139" u="none">
                <a:solidFill>
                  <a:srgbClr val="000000"/>
                </a:solidFill>
                <a:latin typeface="DM Sans"/>
                <a:ea typeface="DM Sans"/>
                <a:cs typeface="DM Sans"/>
                <a:sym typeface="DM Sans"/>
              </a:rPr>
              <a:t> Once a cell or person is infected, there is no possibility of healing or recovering in the simulation.</a:t>
            </a:r>
          </a:p>
          <a:p>
            <a:pPr algn="l">
              <a:lnSpc>
                <a:spcPts val="2787"/>
              </a:lnSpc>
            </a:pPr>
          </a:p>
          <a:p>
            <a:pPr algn="l">
              <a:lnSpc>
                <a:spcPts val="3010"/>
              </a:lnSpc>
            </a:pPr>
            <a:r>
              <a:rPr lang="en-US" b="true" sz="2508" spc="150" u="none">
                <a:solidFill>
                  <a:srgbClr val="000000"/>
                </a:solidFill>
                <a:latin typeface="DM Sans Bold"/>
                <a:ea typeface="DM Sans Bold"/>
                <a:cs typeface="DM Sans Bold"/>
                <a:sym typeface="DM Sans Bold"/>
              </a:rPr>
              <a:t>Fixed spread directions:</a:t>
            </a:r>
          </a:p>
          <a:p>
            <a:pPr algn="l">
              <a:lnSpc>
                <a:spcPts val="2787"/>
              </a:lnSpc>
            </a:pPr>
            <a:r>
              <a:rPr lang="en-US" sz="2322" spc="139" u="none">
                <a:solidFill>
                  <a:srgbClr val="000000"/>
                </a:solidFill>
                <a:latin typeface="DM Sans"/>
                <a:ea typeface="DM Sans"/>
                <a:cs typeface="DM Sans"/>
                <a:sym typeface="DM Sans"/>
              </a:rPr>
              <a:t> Infection spreads only to the four adjacent neighbors (up, down, left, right), ignoring diagonal or more complex transmission patterns.</a:t>
            </a:r>
          </a:p>
          <a:p>
            <a:pPr algn="l">
              <a:lnSpc>
                <a:spcPts val="2787"/>
              </a:lnSpc>
            </a:pPr>
          </a:p>
          <a:p>
            <a:pPr algn="l">
              <a:lnSpc>
                <a:spcPts val="3010"/>
              </a:lnSpc>
            </a:pPr>
            <a:r>
              <a:rPr lang="en-US" b="true" sz="2508" spc="150" u="none">
                <a:solidFill>
                  <a:srgbClr val="000000"/>
                </a:solidFill>
                <a:latin typeface="DM Sans Bold"/>
                <a:ea typeface="DM Sans Bold"/>
                <a:cs typeface="DM Sans Bold"/>
                <a:sym typeface="DM Sans Bold"/>
              </a:rPr>
              <a:t>Instant infection assumption:</a:t>
            </a:r>
          </a:p>
          <a:p>
            <a:pPr algn="l">
              <a:lnSpc>
                <a:spcPts val="2787"/>
              </a:lnSpc>
            </a:pPr>
            <a:r>
              <a:rPr lang="en-US" sz="2322" spc="139" u="none">
                <a:solidFill>
                  <a:srgbClr val="000000"/>
                </a:solidFill>
                <a:latin typeface="DM Sans"/>
                <a:ea typeface="DM Sans"/>
                <a:cs typeface="DM Sans"/>
                <a:sym typeface="DM Sans"/>
              </a:rPr>
              <a:t> The model assumes that infection happens instantly after exactly one hour per move, which may oversimplify real-world disease dynamics.</a:t>
            </a:r>
          </a:p>
          <a:p>
            <a:pPr algn="l">
              <a:lnSpc>
                <a:spcPts val="2787"/>
              </a:lnSpc>
            </a:pP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719920" y="4642647"/>
            <a:ext cx="6126026" cy="6347773"/>
          </a:xfrm>
          <a:custGeom>
            <a:avLst/>
            <a:gdLst/>
            <a:ahLst/>
            <a:cxnLst/>
            <a:rect r="r" b="b" t="t" l="l"/>
            <a:pathLst>
              <a:path h="6347773" w="6126026">
                <a:moveTo>
                  <a:pt x="0" y="0"/>
                </a:moveTo>
                <a:lnTo>
                  <a:pt x="6126026" y="0"/>
                </a:lnTo>
                <a:lnTo>
                  <a:pt x="6126026" y="6347772"/>
                </a:lnTo>
                <a:lnTo>
                  <a:pt x="0" y="63477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66924">
            <a:off x="3667411" y="-1352705"/>
            <a:ext cx="2588752" cy="4250190"/>
          </a:xfrm>
          <a:custGeom>
            <a:avLst/>
            <a:gdLst/>
            <a:ahLst/>
            <a:cxnLst/>
            <a:rect r="r" b="b" t="t" l="l"/>
            <a:pathLst>
              <a:path h="4250190" w="2588752">
                <a:moveTo>
                  <a:pt x="0" y="0"/>
                </a:moveTo>
                <a:lnTo>
                  <a:pt x="2588752" y="0"/>
                </a:lnTo>
                <a:lnTo>
                  <a:pt x="2588752" y="4250190"/>
                </a:lnTo>
                <a:lnTo>
                  <a:pt x="0" y="42501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13215" y="7200900"/>
            <a:ext cx="4125113" cy="4114800"/>
          </a:xfrm>
          <a:custGeom>
            <a:avLst/>
            <a:gdLst/>
            <a:ahLst/>
            <a:cxnLst/>
            <a:rect r="r" b="b" t="t" l="l"/>
            <a:pathLst>
              <a:path h="4114800" w="4125113">
                <a:moveTo>
                  <a:pt x="0" y="0"/>
                </a:moveTo>
                <a:lnTo>
                  <a:pt x="4125113" y="0"/>
                </a:lnTo>
                <a:lnTo>
                  <a:pt x="412511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7127392">
            <a:off x="-805652" y="-2590452"/>
            <a:ext cx="3109988" cy="6503778"/>
          </a:xfrm>
          <a:custGeom>
            <a:avLst/>
            <a:gdLst/>
            <a:ahLst/>
            <a:cxnLst/>
            <a:rect r="r" b="b" t="t" l="l"/>
            <a:pathLst>
              <a:path h="6503778" w="3109988">
                <a:moveTo>
                  <a:pt x="3109988" y="0"/>
                </a:moveTo>
                <a:lnTo>
                  <a:pt x="0" y="0"/>
                </a:lnTo>
                <a:lnTo>
                  <a:pt x="0" y="6503778"/>
                </a:lnTo>
                <a:lnTo>
                  <a:pt x="3109988" y="6503778"/>
                </a:lnTo>
                <a:lnTo>
                  <a:pt x="310998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5466924">
            <a:off x="3667411" y="7932443"/>
            <a:ext cx="2588752" cy="4250190"/>
          </a:xfrm>
          <a:custGeom>
            <a:avLst/>
            <a:gdLst/>
            <a:ahLst/>
            <a:cxnLst/>
            <a:rect r="r" b="b" t="t" l="l"/>
            <a:pathLst>
              <a:path h="4250190" w="2588752">
                <a:moveTo>
                  <a:pt x="0" y="0"/>
                </a:moveTo>
                <a:lnTo>
                  <a:pt x="2588752" y="0"/>
                </a:lnTo>
                <a:lnTo>
                  <a:pt x="2588752" y="4250190"/>
                </a:lnTo>
                <a:lnTo>
                  <a:pt x="0" y="42501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2811898" y="2743269"/>
            <a:ext cx="12786879" cy="6835970"/>
          </a:xfrm>
          <a:prstGeom prst="rect">
            <a:avLst/>
          </a:prstGeom>
        </p:spPr>
        <p:txBody>
          <a:bodyPr anchor="t" rtlCol="false" tIns="0" lIns="0" bIns="0" rIns="0">
            <a:spAutoFit/>
          </a:bodyPr>
          <a:lstStyle/>
          <a:p>
            <a:pPr algn="ctr">
              <a:lnSpc>
                <a:spcPts val="4889"/>
              </a:lnSpc>
            </a:pPr>
            <a:r>
              <a:rPr lang="en-US" sz="3492">
                <a:solidFill>
                  <a:srgbClr val="374C7A"/>
                </a:solidFill>
                <a:latin typeface="Bryndan Write"/>
                <a:ea typeface="Bryndan Write"/>
                <a:cs typeface="Bryndan Write"/>
                <a:sym typeface="Bryndan Write"/>
              </a:rPr>
              <a:t>Through this project, we gained practical experience with the Breadth-First Search (BFS) algorithm by implementing it using a queue to navigate a 2D grid. This allowed us to simulate the spread of a zombie infection across a population in a logical and structured way. We deepened our understanding of how simulations work—how infection propagates over time, and how rules ca</a:t>
            </a:r>
            <a:r>
              <a:rPr lang="en-US" sz="3492">
                <a:solidFill>
                  <a:srgbClr val="374C7A"/>
                </a:solidFill>
                <a:latin typeface="Bryndan Write"/>
                <a:ea typeface="Bryndan Write"/>
                <a:cs typeface="Bryndan Write"/>
                <a:sym typeface="Bryndan Write"/>
              </a:rPr>
              <a:t>n be applied to control behavior in a system. Most importantly, we saw how core data structures such as arrays, queues, and nodes can be used to solve a real-world inspired problem, turning theoretical knowledge into a working, meaningful application.</a:t>
            </a:r>
          </a:p>
        </p:txBody>
      </p:sp>
      <p:sp>
        <p:nvSpPr>
          <p:cNvPr name="TextBox 8" id="8"/>
          <p:cNvSpPr txBox="true"/>
          <p:nvPr/>
        </p:nvSpPr>
        <p:spPr>
          <a:xfrm rot="0">
            <a:off x="3995279" y="1444313"/>
            <a:ext cx="10297442" cy="1193800"/>
          </a:xfrm>
          <a:prstGeom prst="rect">
            <a:avLst/>
          </a:prstGeom>
        </p:spPr>
        <p:txBody>
          <a:bodyPr anchor="t" rtlCol="false" tIns="0" lIns="0" bIns="0" rIns="0">
            <a:spAutoFit/>
          </a:bodyPr>
          <a:lstStyle/>
          <a:p>
            <a:pPr algn="ctr">
              <a:lnSpc>
                <a:spcPts val="9799"/>
              </a:lnSpc>
              <a:spcBef>
                <a:spcPct val="0"/>
              </a:spcBef>
            </a:pPr>
            <a:r>
              <a:rPr lang="en-US" sz="6999">
                <a:solidFill>
                  <a:srgbClr val="374C7A"/>
                </a:solidFill>
                <a:latin typeface="Bosk"/>
                <a:ea typeface="Bosk"/>
                <a:cs typeface="Bosk"/>
                <a:sym typeface="Bosk"/>
              </a:rPr>
              <a:t>CONCLUSION</a:t>
            </a:r>
          </a:p>
        </p:txBody>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646331">
            <a:off x="12702706" y="-2357326"/>
            <a:ext cx="7103364" cy="7503910"/>
          </a:xfrm>
          <a:custGeom>
            <a:avLst/>
            <a:gdLst/>
            <a:ahLst/>
            <a:cxnLst/>
            <a:rect r="r" b="b" t="t" l="l"/>
            <a:pathLst>
              <a:path h="7503910" w="7103364">
                <a:moveTo>
                  <a:pt x="0" y="0"/>
                </a:moveTo>
                <a:lnTo>
                  <a:pt x="7103364" y="0"/>
                </a:lnTo>
                <a:lnTo>
                  <a:pt x="7103364" y="7503911"/>
                </a:lnTo>
                <a:lnTo>
                  <a:pt x="0" y="75039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953504" y="0"/>
            <a:ext cx="11441347" cy="10411626"/>
          </a:xfrm>
          <a:custGeom>
            <a:avLst/>
            <a:gdLst/>
            <a:ahLst/>
            <a:cxnLst/>
            <a:rect r="r" b="b" t="t" l="l"/>
            <a:pathLst>
              <a:path h="10411626" w="11441347">
                <a:moveTo>
                  <a:pt x="0" y="0"/>
                </a:moveTo>
                <a:lnTo>
                  <a:pt x="11441347" y="0"/>
                </a:lnTo>
                <a:lnTo>
                  <a:pt x="11441347" y="10411626"/>
                </a:lnTo>
                <a:lnTo>
                  <a:pt x="0" y="104116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342694">
            <a:off x="15529971" y="7429871"/>
            <a:ext cx="3458658" cy="3169914"/>
          </a:xfrm>
          <a:custGeom>
            <a:avLst/>
            <a:gdLst/>
            <a:ahLst/>
            <a:cxnLst/>
            <a:rect r="r" b="b" t="t" l="l"/>
            <a:pathLst>
              <a:path h="3169914" w="3458658">
                <a:moveTo>
                  <a:pt x="0" y="0"/>
                </a:moveTo>
                <a:lnTo>
                  <a:pt x="3458658" y="0"/>
                </a:lnTo>
                <a:lnTo>
                  <a:pt x="3458658" y="3169913"/>
                </a:lnTo>
                <a:lnTo>
                  <a:pt x="0" y="3169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6139845">
            <a:off x="-1191370" y="6606468"/>
            <a:ext cx="4440140" cy="4816719"/>
          </a:xfrm>
          <a:custGeom>
            <a:avLst/>
            <a:gdLst/>
            <a:ahLst/>
            <a:cxnLst/>
            <a:rect r="r" b="b" t="t" l="l"/>
            <a:pathLst>
              <a:path h="4816719" w="4440140">
                <a:moveTo>
                  <a:pt x="0" y="0"/>
                </a:moveTo>
                <a:lnTo>
                  <a:pt x="4440140" y="0"/>
                </a:lnTo>
                <a:lnTo>
                  <a:pt x="4440140" y="4816719"/>
                </a:lnTo>
                <a:lnTo>
                  <a:pt x="0" y="48167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6836884">
            <a:off x="-468232" y="250613"/>
            <a:ext cx="4194247" cy="4114800"/>
          </a:xfrm>
          <a:custGeom>
            <a:avLst/>
            <a:gdLst/>
            <a:ahLst/>
            <a:cxnLst/>
            <a:rect r="r" b="b" t="t" l="l"/>
            <a:pathLst>
              <a:path h="4114800" w="4194247">
                <a:moveTo>
                  <a:pt x="0" y="0"/>
                </a:moveTo>
                <a:lnTo>
                  <a:pt x="4194247" y="0"/>
                </a:lnTo>
                <a:lnTo>
                  <a:pt x="419424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5466924">
            <a:off x="3809017" y="7678218"/>
            <a:ext cx="2588752" cy="4250190"/>
          </a:xfrm>
          <a:custGeom>
            <a:avLst/>
            <a:gdLst/>
            <a:ahLst/>
            <a:cxnLst/>
            <a:rect r="r" b="b" t="t" l="l"/>
            <a:pathLst>
              <a:path h="4250190" w="2588752">
                <a:moveTo>
                  <a:pt x="0" y="0"/>
                </a:moveTo>
                <a:lnTo>
                  <a:pt x="2588752" y="0"/>
                </a:lnTo>
                <a:lnTo>
                  <a:pt x="2588752" y="4250190"/>
                </a:lnTo>
                <a:lnTo>
                  <a:pt x="0" y="425019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5400000">
            <a:off x="5272672" y="593863"/>
            <a:ext cx="7742655" cy="9099274"/>
          </a:xfrm>
          <a:custGeom>
            <a:avLst/>
            <a:gdLst/>
            <a:ahLst/>
            <a:cxnLst/>
            <a:rect r="r" b="b" t="t" l="l"/>
            <a:pathLst>
              <a:path h="9099274" w="7742655">
                <a:moveTo>
                  <a:pt x="0" y="0"/>
                </a:moveTo>
                <a:lnTo>
                  <a:pt x="7742656" y="0"/>
                </a:lnTo>
                <a:lnTo>
                  <a:pt x="7742656" y="9099274"/>
                </a:lnTo>
                <a:lnTo>
                  <a:pt x="0" y="909927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9" id="9"/>
          <p:cNvSpPr txBox="true"/>
          <p:nvPr/>
        </p:nvSpPr>
        <p:spPr>
          <a:xfrm rot="-225385">
            <a:off x="5756812" y="4752124"/>
            <a:ext cx="6832364" cy="1354092"/>
          </a:xfrm>
          <a:prstGeom prst="rect">
            <a:avLst/>
          </a:prstGeom>
        </p:spPr>
        <p:txBody>
          <a:bodyPr anchor="t" rtlCol="false" tIns="0" lIns="0" bIns="0" rIns="0">
            <a:spAutoFit/>
          </a:bodyPr>
          <a:lstStyle/>
          <a:p>
            <a:pPr algn="ctr">
              <a:lnSpc>
                <a:spcPts val="9368"/>
              </a:lnSpc>
            </a:pPr>
            <a:r>
              <a:rPr lang="en-US" sz="11859">
                <a:solidFill>
                  <a:srgbClr val="FFFFFF"/>
                </a:solidFill>
                <a:latin typeface="Bosk"/>
                <a:ea typeface="Bosk"/>
                <a:cs typeface="Bosk"/>
                <a:sym typeface="Bosk"/>
              </a:rPr>
              <a:t>Thank You </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DAGotfHWTsg</dc:identifier>
  <dcterms:modified xsi:type="dcterms:W3CDTF">2011-08-01T06:04:30Z</dcterms:modified>
  <cp:revision>1</cp:revision>
  <dc:title>CSE_207_PROJECT_SLIDE</dc:title>
</cp:coreProperties>
</file>